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Poppi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Poppins-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Poppins-italic.fntdata"/><Relationship Id="rId23" Type="http://schemas.openxmlformats.org/officeDocument/2006/relationships/slide" Target="slides/slide18.xml"/><Relationship Id="rId45"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schemas.openxmlformats.org/officeDocument/2006/relationships/font" Target="fonts/Poppins-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Poppins"/>
                <a:ea typeface="Poppins"/>
                <a:cs typeface="Poppins"/>
                <a:sym typeface="Poppins"/>
              </a:rPr>
              <a:t>En este curso, les guiaremos a través del proceso de creación de un proyecto de ingeniería de datos completo, desde la definición del problema hasta la comunicación de resultados. Aprenderán a utilizar la inteligencia artificial (IA) para generar ideas de proyectos innovadoras, identificar y seleccionar fuentes de datos relevantes, implementar un proyecto utilizando herramientas y tecnologías de vanguardia, y desarrollar entregables profesionales que comuniquen efectivamente los resultados del proyecto a audiencias técnicas y no técnicas.</a:t>
            </a:r>
            <a:endParaRPr sz="1400">
              <a:latin typeface="Poppins"/>
              <a:ea typeface="Poppins"/>
              <a:cs typeface="Poppins"/>
              <a:sym typeface="Poppi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614e64a3d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614e64a3d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cbf30b0f9a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cbf30b0f9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Poppins"/>
                <a:ea typeface="Poppins"/>
                <a:cs typeface="Poppins"/>
                <a:sym typeface="Poppins"/>
              </a:rPr>
              <a:t>Este curso está dirigido a estudiantes con conocimientos básicos en SQL y/o Python y Bash, con o sin experiencia previa en el desarrollo de proyectos de ingeniería de datos.</a:t>
            </a:r>
            <a:endParaRPr sz="1400">
              <a:latin typeface="Poppins"/>
              <a:ea typeface="Poppins"/>
              <a:cs typeface="Poppins"/>
              <a:sym typeface="Poppi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c3c33fca28_0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c3c33fca28_0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En la actualidad, la ingeniería de datos es una de las habilidades más demandadas en el mercado laboral. Las empresas de todos los sectores necesitan profesionales que puedan recopilar, limpiar, analizar y visualizar datos para obtener información valiosa que les ayude a tomar mejores decisiones.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Este curso les brindará las habilidades y los conocimientos que necesitan para convertirse en ingenieros de datos exitosos. Aprenderán a trabajar con las últimas herramientas y tecnologías, y desarrollarán las habilidades blandas que necesitan para tener éxito en cualquier entorno profesional.</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c78a60d3b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c78a60d3b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c856d6aa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c856d6aa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c3c33fca28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c3c33fca28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400">
                <a:latin typeface="Poppins"/>
                <a:ea typeface="Poppins"/>
                <a:cs typeface="Poppins"/>
                <a:sym typeface="Poppins"/>
              </a:rPr>
              <a:t>¡Hola, bienvenido a la primera clase!</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Fundamentos de SQL: Deberán poder escribir consultas SQL para extraer, transformar y cargar (ETL) datos de diversas fuentes.</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Programación Python: Deberán tener conocimientos básicos de programación en Python para manipular y analizar datos.</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Herramientas de línea de comandos: Deberán saber usar herramientas de línea de comandos como Bash para automatizar tareas y administrar sistemas.</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Estos conocimientos básicos les proporcionarán la base que necesitan para comenzar a trabajar en proyectos de ingeniería de datos más complejos.</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¿Cómo se utilizan estos conocimientos en la industria?</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La mayoría de las grandes empresas basadas en datos utilizan SQL, Python y Bash como sus herramientas básicas para la ingeniería de datos. Estas herramientas son versátiles y potentes, y les permitirán trabajar con una amplia variedad de datos y proyectos.</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¿Qué conocimientos adicionales puedo tener?</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Además de los conocimientos básicos, hay una serie de otros conocimientos que pueden ser útiles para un ingeniero de datos. Estos incluyen:</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Conocimiento del dominio: Es importante tener un buen conocimiento del dominio en el que se está trabajando. Esto les permitirá comprender mejor los datos y generar información más valiosa.</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Aprendizaje automático: El aprendizaje automático es una poderosa herramienta que se puede utilizar para analizar y modelar datos. Aprender sobre el aprendizaje automático puede abrir nuevas posibilidades para sus proyectos de ingeniería de datos.</a:t>
            </a:r>
            <a:endParaRPr sz="1400">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400">
                <a:latin typeface="Poppins"/>
                <a:ea typeface="Poppins"/>
                <a:cs typeface="Poppins"/>
                <a:sym typeface="Poppins"/>
              </a:rPr>
              <a:t>Visualización de datos: La visualización de datos es una forma eficaz de comunicar información a partir de los datos. Aprender a crear visualizaciones de datos atractivas y fáciles de entender puede ser una habilidad muy valiosa.</a:t>
            </a:r>
            <a:endParaRPr sz="1400">
              <a:latin typeface="Poppins"/>
              <a:ea typeface="Poppins"/>
              <a:cs typeface="Poppins"/>
              <a:sym typeface="Poppins"/>
            </a:endParaRPr>
          </a:p>
          <a:p>
            <a:pPr indent="0" lvl="0" marL="0" rtl="0" algn="l">
              <a:lnSpc>
                <a:spcPct val="115000"/>
              </a:lnSpc>
              <a:spcBef>
                <a:spcPts val="1200"/>
              </a:spcBef>
              <a:spcAft>
                <a:spcPts val="1200"/>
              </a:spcAft>
              <a:buClr>
                <a:schemeClr val="dk1"/>
              </a:buClr>
              <a:buSzPts val="1100"/>
              <a:buFont typeface="Arial"/>
              <a:buNone/>
            </a:pPr>
            <a:r>
              <a:t/>
            </a:r>
            <a:endParaRPr sz="1400">
              <a:latin typeface="Poppins"/>
              <a:ea typeface="Poppins"/>
              <a:cs typeface="Poppins"/>
              <a:sym typeface="Poppi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cbf30b0f9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cbf30b0f9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s" sz="1400">
                <a:latin typeface="Poppins"/>
                <a:ea typeface="Poppins"/>
                <a:cs typeface="Poppins"/>
                <a:sym typeface="Poppins"/>
              </a:rPr>
              <a:t>En esta primera clase, hemos introducido el concepto de ingeniería de datos y hemos discutido los conocimientos básicos que son esenciales para cualquier proyecto. También hemos analizado cómo se utilizan estos conocimientos en la industria y cómo puedes integrar nuevos conocimientos a tus proyectos.</a:t>
            </a:r>
            <a:endParaRPr sz="1400">
              <a:latin typeface="Poppins"/>
              <a:ea typeface="Poppins"/>
              <a:cs typeface="Poppins"/>
              <a:sym typeface="Poppi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c856d6aa4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c856d6aa4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c3c33fca28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c3c33fca28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cbf30b0f9a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cbf30b0f9a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En esta clase, analizaremos las características clave que definen un proyecto de ingeniería de datos exitoso. Un proyecto exitoso no solo cumple con los objetivos establecidos, sino que también aporta valor a la organización y sienta las bases para futuros proyectos.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1. Integración de conocimientos: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Un proyecto de ingeniería de datos exitoso reúne a personas con diferentes habilidades y conocimientos. Esto incluye ingenieros de datos, científicos de datos, analistas de negocios y expertos en el dominio. Es importante que todos los miembros del equipo trabajen juntos de manera efectiva para compartir conocimientos y lograr un objetivo común.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2. Claridad y Justificación: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El problema que se aborda en el proyecto debe estar claramente definido y justificado. Esto significa que se debe comprender el impacto potencial del proyecto y cómo contribuirá a los objetivos generales de la organización.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3. Diseño de la Solución: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El proyecto debe tener un diseño de solución bien definido que describa cómo se recopilarán, limpiarán, transformarán y analizarán los datos. El diseño de la solución debe ser sólido y escalable para adaptarse a las necesidades cambiantes de la organización.</a:t>
            </a:r>
            <a:endParaRPr sz="1400">
              <a:latin typeface="Poppins"/>
              <a:ea typeface="Poppins"/>
              <a:cs typeface="Poppins"/>
              <a:sym typeface="Poppins"/>
            </a:endParaRPr>
          </a:p>
          <a:p>
            <a:pPr indent="0" lvl="0" marL="0" rtl="0" algn="l">
              <a:spcBef>
                <a:spcPts val="0"/>
              </a:spcBef>
              <a:spcAft>
                <a:spcPts val="0"/>
              </a:spcAft>
              <a:buNone/>
            </a:pPr>
            <a:r>
              <a:rPr lang="es" sz="1400">
                <a:solidFill>
                  <a:schemeClr val="dk1"/>
                </a:solidFill>
                <a:latin typeface="Poppins"/>
                <a:ea typeface="Poppins"/>
                <a:cs typeface="Poppins"/>
                <a:sym typeface="Poppins"/>
              </a:rPr>
              <a:t>El diseño de la solución debe ser documentado y revisado por las partes interesadas.</a:t>
            </a:r>
            <a:endParaRPr sz="1400">
              <a:solidFill>
                <a:schemeClr val="dk1"/>
              </a:solidFill>
              <a:latin typeface="Poppins"/>
              <a:ea typeface="Poppins"/>
              <a:cs typeface="Poppins"/>
              <a:sym typeface="Poppins"/>
            </a:endParaRPr>
          </a:p>
          <a:p>
            <a:pPr indent="0" lvl="0" marL="0" rtl="0" algn="l">
              <a:spcBef>
                <a:spcPts val="0"/>
              </a:spcBef>
              <a:spcAft>
                <a:spcPts val="0"/>
              </a:spcAft>
              <a:buNone/>
            </a:pPr>
            <a:r>
              <a:rPr lang="es" sz="1400">
                <a:solidFill>
                  <a:schemeClr val="dk1"/>
                </a:solidFill>
                <a:latin typeface="Poppins"/>
                <a:ea typeface="Poppins"/>
                <a:cs typeface="Poppins"/>
                <a:sym typeface="Poppins"/>
              </a:rPr>
              <a:t>El diseño debe ser sólido y escalable.</a:t>
            </a:r>
            <a:endParaRPr sz="1400">
              <a:solidFill>
                <a:schemeClr val="dk1"/>
              </a:solidFill>
              <a:latin typeface="Poppins"/>
              <a:ea typeface="Poppins"/>
              <a:cs typeface="Poppins"/>
              <a:sym typeface="Poppins"/>
            </a:endParaRPr>
          </a:p>
          <a:p>
            <a:pPr indent="0" lvl="0" marL="0" rtl="0" algn="l">
              <a:spcBef>
                <a:spcPts val="0"/>
              </a:spcBef>
              <a:spcAft>
                <a:spcPts val="0"/>
              </a:spcAft>
              <a:buNone/>
            </a:pPr>
            <a:r>
              <a:rPr lang="es" sz="1400">
                <a:solidFill>
                  <a:schemeClr val="dk1"/>
                </a:solidFill>
                <a:latin typeface="Poppins"/>
                <a:ea typeface="Poppins"/>
                <a:cs typeface="Poppins"/>
                <a:sym typeface="Poppins"/>
              </a:rPr>
              <a:t>El diseño debe considerar la seguridad y la gobernanza de los datos.</a:t>
            </a:r>
            <a:endParaRPr sz="14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solidFill>
                  <a:schemeClr val="dk1"/>
                </a:solidFill>
                <a:latin typeface="Poppins"/>
                <a:ea typeface="Poppins"/>
                <a:cs typeface="Poppins"/>
                <a:sym typeface="Poppins"/>
              </a:rPr>
              <a:t>El diseño debe ser flexible para adaptarse a los cambios en los requisitos.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4. Desarrollo Técnico: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El proyecto debe implementarse utilizando herramientas y tecnologías adecuadas. El equipo de ingeniería de datos debe tener las habilidades y la experiencia necesarias para desarrollar y mantener la solución.</a:t>
            </a:r>
            <a:endParaRPr sz="1400">
              <a:solidFill>
                <a:schemeClr val="dk1"/>
              </a:solidFill>
              <a:latin typeface="Poppins"/>
              <a:ea typeface="Poppins"/>
              <a:cs typeface="Poppins"/>
              <a:sym typeface="Poppins"/>
            </a:endParaRPr>
          </a:p>
          <a:p>
            <a:pPr indent="0" lvl="0" marL="0" rtl="0" algn="l">
              <a:spcBef>
                <a:spcPts val="0"/>
              </a:spcBef>
              <a:spcAft>
                <a:spcPts val="0"/>
              </a:spcAft>
              <a:buNone/>
            </a:pPr>
            <a:r>
              <a:rPr lang="es" sz="1400">
                <a:solidFill>
                  <a:schemeClr val="dk1"/>
                </a:solidFill>
                <a:latin typeface="Poppins"/>
                <a:ea typeface="Poppins"/>
                <a:cs typeface="Poppins"/>
                <a:sym typeface="Poppins"/>
              </a:rPr>
              <a:t>Se deben implementar pruebas unitarias y de integración.</a:t>
            </a:r>
            <a:endParaRPr sz="1400">
              <a:solidFill>
                <a:schemeClr val="dk1"/>
              </a:solidFill>
              <a:latin typeface="Poppins"/>
              <a:ea typeface="Poppins"/>
              <a:cs typeface="Poppins"/>
              <a:sym typeface="Poppins"/>
            </a:endParaRPr>
          </a:p>
          <a:p>
            <a:pPr indent="0" lvl="0" marL="0" rtl="0" algn="l">
              <a:spcBef>
                <a:spcPts val="0"/>
              </a:spcBef>
              <a:spcAft>
                <a:spcPts val="0"/>
              </a:spcAft>
              <a:buNone/>
            </a:pPr>
            <a:r>
              <a:rPr lang="es" sz="1400">
                <a:solidFill>
                  <a:schemeClr val="dk1"/>
                </a:solidFill>
                <a:latin typeface="Poppins"/>
                <a:ea typeface="Poppins"/>
                <a:cs typeface="Poppins"/>
                <a:sym typeface="Poppins"/>
              </a:rPr>
              <a:t>Se debe implementar un proceso de control de versiones.</a:t>
            </a:r>
            <a:endParaRPr sz="14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solidFill>
                  <a:schemeClr val="dk1"/>
                </a:solidFill>
                <a:latin typeface="Poppins"/>
                <a:ea typeface="Poppins"/>
                <a:cs typeface="Poppins"/>
                <a:sym typeface="Poppins"/>
              </a:rPr>
              <a:t>Se debe implementar un plan de monitoreo y mantenimiento.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5. Comunicación de Resultados: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Los resultados del proyecto deben comunicarse de manera efectiva a las partes interesadas. Esto incluye crear informes, visualizaciones y presentaciones que sean claros, concisos y fáciles de entender.</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Conclusión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En esta clase, hemos analizado las características clave que definen un proyecto de ingeniería de datos exitoso. Al comprender y aplicar estas características, pueden aumentar las posibilidades de éxito de su próximo proyecto.</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c856d6aa4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c856d6aa4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4d9ab3acc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4d9ab3acc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Poppins"/>
                <a:ea typeface="Poppins"/>
                <a:cs typeface="Poppins"/>
                <a:sym typeface="Poppins"/>
              </a:rPr>
              <a:t>En esta clase, exploraremos cómo la inteligencia artificial (IA) puede ser una herramienta poderosa para generar ideas de proyectos de ingeniería de datos innovadoras y relevantes. Aprenderán sobre el concepto de "prompt básico" y cómo utilizarlo para guiar la generación de ideas. También descubrirán técnicas de brainstorming y prompts específicos para estimular la creatividad y la producción de ideas. Por último, aprenderán a evaluar y seleccionar las ideas de proyectos con mayor potencial y viabilidad.</a:t>
            </a:r>
            <a:br>
              <a:rPr lang="es" sz="1400">
                <a:latin typeface="Poppins"/>
                <a:ea typeface="Poppins"/>
                <a:cs typeface="Poppins"/>
                <a:sym typeface="Poppins"/>
              </a:rPr>
            </a:br>
            <a:br>
              <a:rPr lang="es" sz="1400">
                <a:latin typeface="Poppins"/>
                <a:ea typeface="Poppins"/>
                <a:cs typeface="Poppins"/>
                <a:sym typeface="Poppins"/>
              </a:rPr>
            </a:br>
            <a:r>
              <a:rPr lang="es" sz="1400">
                <a:latin typeface="Poppins"/>
                <a:ea typeface="Poppins"/>
                <a:cs typeface="Poppins"/>
                <a:sym typeface="Poppins"/>
              </a:rPr>
              <a:t>Entendimiento del prompt básico para la generación de proyectos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Un prompt básico es una descripción breve y concisa que proporciona contexto e instrucciones a un sistema de IA para generar ideas de proyectos. Un prompt efectivo debe ser claro, específico y relevante para el dominio de la ingeniería de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Elementos clave de un prompt básico: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Problema a abordar: Describa el problema o desafío que se busca resolver con el proyecto.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Objetivos del proyecto: Defina los objetivos específicos que se desean alcanzar con el proyecto.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Público objetivo: Identifique a quiénes estará dirigido el proyecto y cuáles son sus necesidades.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Recursos disponibles: Describa los datos, las herramientas y las tecnologías que estarán disponibles para el proyecto.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Limitaciones: Indique cualquier restricción o limitante que deba considerarse.</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4d9ab3acc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4d9ab3acc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Poppins"/>
              <a:ea typeface="Poppins"/>
              <a:cs typeface="Poppins"/>
              <a:sym typeface="Poppi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cbf30b0f9a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cbf30b0f9a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Poppins"/>
              <a:ea typeface="Poppins"/>
              <a:cs typeface="Poppins"/>
              <a:sym typeface="Poppi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cbf30b0f9a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2cbf30b0f9a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Poppins"/>
              <a:ea typeface="Poppins"/>
              <a:cs typeface="Poppins"/>
              <a:sym typeface="Poppi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cbf30b0f9a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cbf30b0f9a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Poppins"/>
              <a:ea typeface="Poppins"/>
              <a:cs typeface="Poppins"/>
              <a:sym typeface="Poppi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cbf30b0f9a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2cbf30b0f9a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Poppins"/>
              <a:ea typeface="Poppins"/>
              <a:cs typeface="Poppins"/>
              <a:sym typeface="Poppi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cbf30b0f9a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cbf30b0f9a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No todas las ideas de proyectos son viables o tienen el potencial de generar un impacto significativo. Es importante evaluar cuidadosamente las ideas para seleccionar aquellas que tienen las mayores posibilidades de éxito.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Criterios para evaluar ideas de proyectos: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Claridad y definición: ¿Está bien definida la idea del proyecto y se comprende el problema que se busca abordar?</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Impacto potencial: ¿Tiene el proyecto el potencial de generar un impacto significativo en la organización o la sociedad?</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Viabilidad técnica: ¿Es factible implementar el proyecto utilizando las herramientas y tecnologías disponibles?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Recursos disponibles: ¿Se dispone de los recursos humanos, financieros y de datos necesarios para llevar a cabo el proyecto?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Alineación con los objetivos: ¿Está el proyecto alineado con los objetivos generales de la organización?</a:t>
            </a:r>
            <a:endParaRPr sz="1400">
              <a:latin typeface="Poppins"/>
              <a:ea typeface="Poppins"/>
              <a:cs typeface="Poppins"/>
              <a:sym typeface="Poppins"/>
            </a:endParaRPr>
          </a:p>
          <a:p>
            <a:pPr indent="0" lvl="0" marL="0" rtl="0" algn="l">
              <a:spcBef>
                <a:spcPts val="0"/>
              </a:spcBef>
              <a:spcAft>
                <a:spcPts val="0"/>
              </a:spcAft>
              <a:buNone/>
            </a:pPr>
            <a:br>
              <a:rPr lang="es" sz="1400">
                <a:latin typeface="Poppins"/>
                <a:ea typeface="Poppins"/>
                <a:cs typeface="Poppins"/>
                <a:sym typeface="Poppins"/>
              </a:rPr>
            </a:br>
            <a:r>
              <a:rPr lang="es" sz="1400">
                <a:latin typeface="Poppins"/>
                <a:ea typeface="Poppins"/>
                <a:cs typeface="Poppins"/>
                <a:sym typeface="Poppins"/>
              </a:rPr>
              <a:t>Selección de las mejores ideas: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Clasifique las ideas de proyectos según los criterios de evaluación.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Discuta las ideas con otros miembros del equipo y las partes interesadas.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Seleccione las ideas que tengan el mayor potencial y viabilidad.</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Conclusión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La IA puede ser una herramienta poderosa para generar ideas de proyectos de ingeniería de datos innovadoras y relevantes. Al comprender el concepto de prompt básico, utilizar técnicas de brainstorming efectivas y evaluar cuidadosamente las ideas, pueden aumentar las posibilidades de encontrar un proyecto que tenga un impacto significativo.</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c856d6aa4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c856d6aa4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4d9ab3acc4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4d9ab3acc4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Poppins"/>
                <a:ea typeface="Poppins"/>
                <a:cs typeface="Poppins"/>
                <a:sym typeface="Poppins"/>
              </a:rPr>
              <a:t>En esta clase, exploraremos las diferentes fuentes de datos que pueden utilizarse para proyectos de ingeniería de datos. Aprenderán cómo buscar y seleccionar fuentes de datos confiables y relevantes para su proyecto. Si bien puede que ya tengas los datos para tu proyecto y deberias de añadir un sample al prompt para generar mejores resultados También existe la posibilidad que no tengas datos entonces conocerán Kaggle, un repositorio popular de datasets públicos para proyectos de ingeniería de datos. Por último, se introducirá la generación de datos falsos con IA utilizando herramientas como Mockaroo.</a:t>
            </a:r>
            <a:br>
              <a:rPr lang="es" sz="1400">
                <a:latin typeface="Poppins"/>
                <a:ea typeface="Poppins"/>
                <a:cs typeface="Poppins"/>
                <a:sym typeface="Poppins"/>
              </a:rPr>
            </a:br>
            <a:br>
              <a:rPr lang="es" sz="1400">
                <a:latin typeface="Poppins"/>
                <a:ea typeface="Poppins"/>
                <a:cs typeface="Poppins"/>
                <a:sym typeface="Poppins"/>
              </a:rPr>
            </a:br>
            <a:r>
              <a:rPr lang="es" sz="1400">
                <a:latin typeface="Poppins"/>
                <a:ea typeface="Poppins"/>
                <a:cs typeface="Poppins"/>
                <a:sym typeface="Poppins"/>
              </a:rPr>
              <a:t>Búsqueda y selección de fuentes de datos confiables y relevantes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La selección de las fuentes de datos adecuadas es crucial para el éxito de cualquier proyecto de ingeniería de datos. Los datos deben ser confiables, relevantes para el problema que se está abordando y estar disponibles en un formato adecuado.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Consideraciones al seleccionar fuentes de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Confianza: ¿Quién creó los datos? ¿Cómo se recopilaron y verificaron?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Relevancia: ¿Los datos se ajustan al problema que se está abordando? ¿Contienen las variables necesarias para el análisis?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Disponibilidad: ¿Los datos están disponibles en un formato accesible? ¿Existe algún costo asociado con la obtención de los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Calidad: ¿Los datos están completos y libres de errores? ¿Se han documentado adecuadamente?</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Recursos para encontrar fuentes de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Sitios web gubernamentales: Muchos gobiernos publican datos abiertos sobre diversos temas.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Organizaciones sin fines de lucro: Algunas organizaciones sin fines de lucro recopilan y comparten datos sobre temas de interés público.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Empresas privadas: Algunas empresas ofrecen acceso a sus datos a través de API o suscripciones.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Repositorios de datos públicos: Existen repositorios en línea que albergan datasets de diversas fuentes.</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c3c33fca28_0_1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c3c33fca28_0_1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200">
                <a:solidFill>
                  <a:srgbClr val="595959"/>
                </a:solidFill>
                <a:latin typeface="Poppins"/>
                <a:ea typeface="Poppins"/>
                <a:cs typeface="Poppins"/>
                <a:sym typeface="Poppins"/>
              </a:rPr>
              <a:t>Beneficios de usar Kaggle:</a:t>
            </a:r>
            <a:endParaRPr sz="1200">
              <a:solidFill>
                <a:srgbClr val="595959"/>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t/>
            </a:r>
            <a:endParaRPr sz="1200">
              <a:solidFill>
                <a:srgbClr val="595959"/>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200">
                <a:solidFill>
                  <a:srgbClr val="595959"/>
                </a:solidFill>
                <a:latin typeface="Poppins"/>
                <a:ea typeface="Poppins"/>
                <a:cs typeface="Poppins"/>
                <a:sym typeface="Poppins"/>
              </a:rPr>
              <a:t>Gran variedad de datasets: Kaggle ofrece una amplia gama de datasets sobre diversos temas, desde finanzas y comercio electrónico hasta salud y medio ambiente.</a:t>
            </a:r>
            <a:endParaRPr sz="1200">
              <a:solidFill>
                <a:srgbClr val="595959"/>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200">
                <a:solidFill>
                  <a:srgbClr val="595959"/>
                </a:solidFill>
                <a:latin typeface="Poppins"/>
                <a:ea typeface="Poppins"/>
                <a:cs typeface="Poppins"/>
                <a:sym typeface="Poppins"/>
              </a:rPr>
              <a:t>Datasets de alta calidad: Muchos de los datasets en Kaggle han sido revisados y limpiados por la comunidad de Kaggle.</a:t>
            </a:r>
            <a:endParaRPr sz="1200">
              <a:solidFill>
                <a:srgbClr val="595959"/>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1200">
                <a:solidFill>
                  <a:srgbClr val="595959"/>
                </a:solidFill>
                <a:latin typeface="Poppins"/>
                <a:ea typeface="Poppins"/>
                <a:cs typeface="Poppins"/>
                <a:sym typeface="Poppins"/>
              </a:rPr>
              <a:t>Comunidad activa: Kaggle tiene una comunidad activa de científicos de datos y profesionales de la ingeniería de datos que pueden ofrecer ayuda y asesoramiento.</a:t>
            </a:r>
            <a:endParaRPr sz="1200">
              <a:solidFill>
                <a:srgbClr val="595959"/>
              </a:solidFill>
              <a:latin typeface="Poppins"/>
              <a:ea typeface="Poppins"/>
              <a:cs typeface="Poppins"/>
              <a:sym typeface="Poppins"/>
            </a:endParaRPr>
          </a:p>
          <a:p>
            <a:pPr indent="0" lvl="0" marL="0" rtl="0" algn="l">
              <a:lnSpc>
                <a:spcPct val="115000"/>
              </a:lnSpc>
              <a:spcBef>
                <a:spcPts val="1200"/>
              </a:spcBef>
              <a:spcAft>
                <a:spcPts val="1200"/>
              </a:spcAft>
              <a:buNone/>
            </a:pPr>
            <a:r>
              <a:rPr lang="es" sz="1200">
                <a:solidFill>
                  <a:srgbClr val="595959"/>
                </a:solidFill>
                <a:latin typeface="Poppins"/>
                <a:ea typeface="Poppins"/>
                <a:cs typeface="Poppins"/>
                <a:sym typeface="Poppins"/>
              </a:rPr>
              <a:t>En esta clase, hemos explorado las diferentes fuentes de datos que pueden utilizarse para proyectos de ingeniería de datos. Hemos aprendido cómo buscar y seleccionar fuentes de datos confiables y relevantes, y hemos conocido Kaggle como un repositorio popular de datasets públicos. También se ha introducido la generación de datos falsos con IA utilizando herramientas como Mockaroo.</a:t>
            </a:r>
            <a:endParaRPr sz="1200">
              <a:solidFill>
                <a:srgbClr val="595959"/>
              </a:solidFill>
              <a:latin typeface="Poppins"/>
              <a:ea typeface="Poppins"/>
              <a:cs typeface="Poppins"/>
              <a:sym typeface="Poppi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c856d6aa4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c856d6aa4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cbf30b0f9a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cbf30b0f9a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Poppins"/>
                <a:ea typeface="Poppins"/>
                <a:cs typeface="Poppins"/>
                <a:sym typeface="Poppins"/>
              </a:rPr>
              <a:t>En esta clase, nos adentraremos en el proceso de desarrollo de un proyecto de ingeniería de datos. Aprenderán sobre las etapas clave del proyecto, cómo establecer objetivos claros y alcanzables para cada etapa, y cómo crear un cronograma y plan de trabajo para la ejecución del proyecto.</a:t>
            </a:r>
            <a:endParaRPr sz="1400">
              <a:latin typeface="Poppins"/>
              <a:ea typeface="Poppins"/>
              <a:cs typeface="Poppins"/>
              <a:sym typeface="Poppi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cbf30b0f9a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cbf30b0f9a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Definición de las etapas del proyecto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Un proyecto de ingeniería de datos típico se divide en varias etapas: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1. Diseño de la arquitectura:</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Definir los objetivos del proyecto y los requisitos del negocio.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Identificar las fuentes de datos y las tecnologías que se utilizarán.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Diseñar la arquitectura de datos y la infraestructura del proyecto.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2. Descubrimiento de fuentes: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Recopilar y explorar las fuentes de datos identificadas.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Evaluar la calidad y la confiabilidad de los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Limpiar y preparar los datos para su análisis.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3. Desarrollo: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Implementar los modelos de análisis y aprendizaje automático.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Desarrollar visualizaciones y dashboards para comunicar los resultados.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Integrar la solución con los sistemas existentes.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4. Evaluación de resultados: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Evaluar el rendimiento de los modelos y la precisión de los resultados.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Comunicar los resultados a las partes interesadas.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Documentar el proyecto y las lecciones aprendidas.</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cbf30b0f9a_0_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cbf30b0f9a_0_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c856d6aa4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c856d6aa4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97206fef56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97206fef56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c856d6aa4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c856d6aa4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2cbf30b0f9a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2cbf30b0f9a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Poppins"/>
                <a:ea typeface="Poppins"/>
                <a:cs typeface="Poppins"/>
                <a:sym typeface="Poppins"/>
              </a:rPr>
              <a:t>Clase 6: Diseño de la Arquitectura</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Introducción</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En esta clase, nos adentraremos en el diseño de la arquitectura de un proyecto de ingeniería de datos. Aprenderán sobre la selección de las herramientas y tecnologías adecuadas para el proyecto, y cómo diseñar una arquitectura de datos sólida y escalable que incluya la ingesta, transformación, almacenamiento y modelado de datos.</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Selección de las herramientas y tecnologías adecuadas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La elección de las herramientas y tecnologías adecuadas es crucial para el éxito de cualquier proyecto de ingeniería de datos. Las herramientas y tecnologías deben ser:</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Capaces de cumplir con los requisitos del proyecto.</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Fáciles de usar y mantener.</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Escalables para adaptarse al crecimiento de los datos.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Compatibles con los sistemas existentes.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Rentables y que se ajusten al presupuesto del proyecto.</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Factores a considerar al seleccionar herramientas y tecnologías:</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Tipo de datos: ¿Qué tipo de datos se manejarán en el proyecto?</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Volumen de datos: ¿Qué volumen de datos se espera manejar?</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Casos de uso: ¿Cuáles son los casos de uso específicos del proyecto?</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Habilidades del equipo: ¿Qué habilidades y experiencia tiene el equipo de ingeniería de datos?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Presupuesto: ¿Cuál es el presupuesto disponible para herramientas y tecnologías?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Ejemplos de herramientas y tecnologías comunes para ingeniería de datos:</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Ingesta de datos: Apache Kafka, Flume, StreamSets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Transformación de datos: Apache Spark, ETL tools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Almacenamiento de datos: Apache Hadoop, AWS S3, Azure Blob Storage</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Modelado de datos: Azure Databricks, Google Cloud Dataproc</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Visualización de datos: Tableau, Power BI, Qlik Sense</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Diseño de la arquitectura de datos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La arquitectura de datos define la estructura general de cómo se almacenarán, procesarán y analizarán los datos en el proyecto. Una arquitectura de datos bien diseñada debe ser:</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Modular: La arquitectura debe dividirse en módulos independientes que puedan ser desarrollados y mantenidos por separado.</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Escalable: La arquitectura debe ser capaz de adaptarse al crecimiento de los datos sin afectar el rendimiento.</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Segura: La arquitectura debe proteger los datos contra accesos no autorizados y ataques cibernéticos.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Eficiente: La arquitectura debe utilizar los recursos de manera eficiente para optimizar el rendimiento y los costos.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Componentes clave de una arquitectura de datos:</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Capa de ingesta: Esta capa se encarga de recopilar y cargar los datos en el sistema.</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Capa de transformación: Esta capa se encarga de limpiar, transformar y preparar los datos para su análisis.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Capa de almacenamiento: Esta capa se encarga de almacenar los datos de manera segura y eficiente.</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Capa de análisis: Esta capa se encarga de ejecutar análisis y modelos de aprendizaje automático sobre los datos.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Capa de visualización: Esta capa se encarga de comunicar los resultados del análisis a las partes interesadas.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Ejemplos de arquitecturas de datos comunes:</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Lago de datos: Un lago de datos es un repositorio central que almacena todos los datos en su formato bruto.</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Almacén de datos: Un almacén de datos es un repositorio estructurado que almacena datos limpios y preparados para su análisis.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Data Mesh: Data Mesh es una arquitectura distribuida que desglosa la responsabilidad de los datos en dominios específicos.</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Conclusión</a:t>
            </a:r>
            <a:endParaRPr sz="1400">
              <a:latin typeface="Poppins"/>
              <a:ea typeface="Poppins"/>
              <a:cs typeface="Poppins"/>
              <a:sym typeface="Poppins"/>
            </a:endParaRPr>
          </a:p>
          <a:p>
            <a:pPr indent="0" lvl="0" marL="0" rtl="0" algn="l">
              <a:spcBef>
                <a:spcPts val="0"/>
              </a:spcBef>
              <a:spcAft>
                <a:spcPts val="0"/>
              </a:spcAft>
              <a:buNone/>
            </a:pPr>
            <a:r>
              <a:rPr lang="es" sz="1400">
                <a:latin typeface="Poppins"/>
                <a:ea typeface="Poppins"/>
                <a:cs typeface="Poppins"/>
                <a:sym typeface="Poppins"/>
              </a:rPr>
              <a:t>En esta clase, hemos aprendido sobre la selección de las herramientas y tecnologías adecuadas para un proyecto de ingeniería de datos, y cómo diseñar una arquitectura de datos sólida y escalable. La próxima clase profundizaremos en la ingesta y transformación de datos.</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c856d6aa46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2c856d6aa46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2cbf30b0f9a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2cbf30b0f9a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Búsqueda de fuentes de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El primer paso en el discovery de fuentes es identificar todas las posibles fuentes de datos que podrían ser relevantes para el proyecto. Algunas de las fuentes de datos más comunes incluyen: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Datos internos: Estos datos se generan dentro de la organización, como registros de ventas, datos de clientes o datos de producción.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Datos externos: Estos datos se generan fuera de la organización, como datos gubernamentales, datos de investigación o datos de redes sociales.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Datos abiertos: Estos datos son gratuitos y de libre acceso para cualquier persona, como conjuntos de datos de Kaggle o datos del Banco Mundial.</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Herramientas para la búsqueda de fuentes de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Motores de búsqueda: Google, Bing y DuckDuckGo pueden ser útiles para encontrar fuentes de datos en línea.</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Repositorios de datos: Existen repositorios en línea que albergan datasets de diversas fuentes, como Kaggle y Data.gov.</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Sitios web gubernamentales: Muchos gobiernos publican datos abiertos sobre diversos temas.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Organizaciones sin fines de lucro: Algunas organizaciones sin fines de lucro recopilan y comparten datos sobre temas de interés público.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Empresas privadas: Algunas empresas ofrecen acceso a sus datos a través de API o suscripciones.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Identificación de fuentes de datos relevantes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Una vez que hayan identificado una lista de posibles fuentes de datos, es necesario evaluar cada una de ellas para determinar si son relevantes para su proyecto. Algunos de los factores a considerar incluyen: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Temática: ¿Los datos se ajustan al tema del proyecto?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Calidad: ¿Los datos son confiables, completos y precisos?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Disponibilidad: ¿Los datos están disponibles en un formato accesible?</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Frecuencia de actualización: ¿Con qué frecuencia se actualizan los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Costo: ¿Existe algún costo asociado con la obtención de los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Selección de fuentes de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Después de evaluar las fuentes de datos relevantes, es necesario seleccionar las que mejor se ajusten a las necesidades del proyecto. Algunos de los criterios de selección incluyen: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Relevancia: ¿Los datos son esenciales para el proyecto?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Calidad: ¿Los datos son de alta calidad y confiables?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Disponibilidad: ¿Los datos están fácilmente disponibles y accesibles?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Frecuencia de actualización: ¿Los datos se actualizan con la frecuencia suficiente?</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Costo: ¿Los datos son asequibles dentro del presupuesto del proyecto?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Conclusión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El discovery de fuentes es un paso crucial en cualquier proyecto de ingeniería de datos. Al identificar y seleccionar cuidadosamente las fuentes de datos adecuadas, pueden garantizar que su proyecto se base en datos confiables y de alta calidad.</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cbf30b0f9a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cbf30b0f9a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cbf30b0f9a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cbf30b0f9a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En esta clase, nos adentraremos en la etapa de desarrollo de un proyecto de ingeniería de datos. Aprenderán a implementar el código y las herramientas necesarias para procesar los datos, y cómo monitorear y evaluar el rendimiento y la calidad de los resultados.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Implementación del código y las herramientas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La etapa de desarrollo implica la implementación del código y las herramientas necesarias para transformar, analizar y visualizar los datos. Esto puede incluir:</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Limpieza y preparación de datos: Eliminar valores atípicos, manejar valores faltantes y normalizar los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Transformación de datos: Agregar nuevas características, combinar conjuntos de datos y crear variables derivadas.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Modelado de datos: Desarrollar modelos de aprendizaje automático o estadísticos para analizar los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Visualización de datos: Crear gráficos, cuadros y paneles para comunicar los resultados del análisis.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Herramientas comunes para el desarrollo de ingeniería de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Lenguajes de programación: Python, R, Scala, Java</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Frameworks de big data: Apache Spark, Hadoop, Flink</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Herramientas de ETL: Informatica PowerCenter, Talend Open Studio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Bibliotecas de aprendizaje automático: scikit-learn, TensorFlow, PyTorch</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Herramientas de visualización de datos: Tableau, Power BI, Qlik Sense</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Buenas prácticas para el desarrollo de ingeniería de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Utilizar un control de versiones: Git, Mercurial, SVN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Escribir código limpio y documentado: PEP8, Google Java Style Guide</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Realizar pruebas unitarias y de integración: JUnit, Mockito, Selenium</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Implementar un proceso de entrega continua: CI/CD, Jenkins, Travis CI</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Monitoreo y evaluación del rendimiento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Es importante monitorear y evaluar el rendimiento de los modelos y pipelines de datos para garantizar que funcionen correctamente y produzcan resultados de alta calidad. Algunas de las métricas de rendimiento comunes incluyen: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Precisión: La capacidad del modelo para predecir correctamente los resultados.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Exactitud: La ausencia de errores en los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Completitud: La cantidad de datos disponibles en comparación con la cantidad total de datos esperados.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Consistencia: La coherencia de los datos a lo largo del tiempo.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Oportunidad: La rapidez con la que se procesan y analizan los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Herramientas para el monitoreo y la evaluación del rendimiento: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Grafana: Una herramienta para crear dashboards para visualizar métricas de rendimiento.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Prometheus: Un sistema de monitoreo y alerta para recopilar y exportar métricas de rendimiento.</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Datadog: Una plataforma de monitoreo e inteligencia observacional para la infraestructura y las aplicaciones.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Snowflake Data Monitor: Una herramienta integrada en Snowflake para monitorear el rendimiento de las consultas y los almacenes de datos.</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Conclusión</a:t>
            </a:r>
            <a:endParaRPr sz="14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400">
                <a:latin typeface="Poppins"/>
                <a:ea typeface="Poppins"/>
                <a:cs typeface="Poppins"/>
                <a:sym typeface="Poppins"/>
              </a:rPr>
              <a:t>La etapa de desarrollo es crucial para el éxito de un proyecto de ingeniería de datos. Al implementar el código y las herramientas adecuadas, y monitorear y evaluar el rendimiento de los resultados, pueden garantizar que su proyecto produzca información valiosa y útil para la toma de decisiones.</a:t>
            </a:r>
            <a:endParaRPr sz="1400">
              <a:latin typeface="Poppins"/>
              <a:ea typeface="Poppins"/>
              <a:cs typeface="Poppins"/>
              <a:sym typeface="Poppins"/>
            </a:endParaRPr>
          </a:p>
          <a:p>
            <a:pPr indent="0" lvl="0" marL="0" rtl="0" algn="l">
              <a:spcBef>
                <a:spcPts val="0"/>
              </a:spcBef>
              <a:spcAft>
                <a:spcPts val="0"/>
              </a:spcAft>
              <a:buNone/>
            </a:pPr>
            <a:r>
              <a:t/>
            </a:r>
            <a:endParaRPr sz="1400">
              <a:latin typeface="Poppins"/>
              <a:ea typeface="Poppins"/>
              <a:cs typeface="Poppins"/>
              <a:sym typeface="Poppi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c856d6aa4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2c856d6aa4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cbf30b0f9a_0_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cbf30b0f9a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latin typeface="Poppins"/>
                <a:ea typeface="Poppins"/>
                <a:cs typeface="Poppins"/>
                <a:sym typeface="Poppins"/>
              </a:rPr>
              <a:t>En esta clase, nos adentraremos en la etapa final de un proyecto de ingeniería de datos: la evaluación de resultados. Aprenderán a analizar los resultados obtenidos, evaluar el cumplimiento de los objetivos iniciales del proyecto y comunicar los hallazgos de manera efectiva a audiencias técnicas y no técnicas.</a:t>
            </a:r>
            <a:endParaRPr sz="1400">
              <a:latin typeface="Poppins"/>
              <a:ea typeface="Poppins"/>
              <a:cs typeface="Poppins"/>
              <a:sym typeface="Poppi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cbf30b0f9a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cbf30b0f9a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9b843d483b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29b843d483b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ara CF"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2pPr>
            <a:lvl3pPr lvl="2">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3pPr>
            <a:lvl4pPr lvl="3">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4pPr>
            <a:lvl5pPr lvl="4">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5pPr>
            <a:lvl6pPr lvl="5">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6pPr>
            <a:lvl7pPr lvl="6">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7pPr>
            <a:lvl8pPr lvl="7">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8pPr>
            <a:lvl9pPr lvl="8">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oppins"/>
              <a:buChar char="●"/>
              <a:defRPr sz="1800">
                <a:solidFill>
                  <a:schemeClr val="dk2"/>
                </a:solidFill>
                <a:latin typeface="Poppins"/>
                <a:ea typeface="Poppins"/>
                <a:cs typeface="Poppins"/>
                <a:sym typeface="Poppins"/>
              </a:defRPr>
            </a:lvl1pPr>
            <a:lvl2pPr indent="-317500" lvl="1" marL="9144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2pPr>
            <a:lvl3pPr indent="-317500" lvl="2" marL="13716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3pPr>
            <a:lvl4pPr indent="-317500" lvl="3" marL="18288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4pPr>
            <a:lvl5pPr indent="-317500" lvl="4" marL="22860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5pPr>
            <a:lvl6pPr indent="-317500" lvl="5" marL="27432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6pPr>
            <a:lvl7pPr indent="-317500" lvl="6" marL="32004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7pPr>
            <a:lvl8pPr indent="-317500" lvl="7" marL="36576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8pPr>
            <a:lvl9pPr indent="-317500" lvl="8" marL="4114800">
              <a:lnSpc>
                <a:spcPct val="115000"/>
              </a:lnSpc>
              <a:spcBef>
                <a:spcPts val="0"/>
              </a:spcBef>
              <a:spcAft>
                <a:spcPts val="0"/>
              </a:spcAft>
              <a:buClr>
                <a:schemeClr val="dk2"/>
              </a:buClr>
              <a:buSzPts val="1400"/>
              <a:buFont typeface="Poppins"/>
              <a:buChar char="■"/>
              <a:defRPr>
                <a:solidFill>
                  <a:schemeClr val="dk2"/>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10" Type="http://schemas.openxmlformats.org/officeDocument/2006/relationships/image" Target="../media/image13.png"/><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14.png"/><Relationship Id="rId8"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11" Type="http://schemas.openxmlformats.org/officeDocument/2006/relationships/image" Target="../media/image6.png"/><Relationship Id="rId10" Type="http://schemas.openxmlformats.org/officeDocument/2006/relationships/image" Target="../media/image10.png"/><Relationship Id="rId9"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14.png"/><Relationship Id="rId8"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7.png"/><Relationship Id="rId11" Type="http://schemas.openxmlformats.org/officeDocument/2006/relationships/image" Target="../media/image16.png"/><Relationship Id="rId10" Type="http://schemas.openxmlformats.org/officeDocument/2006/relationships/image" Target="../media/image18.png"/><Relationship Id="rId9"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17.png"/><Relationship Id="rId7" Type="http://schemas.openxmlformats.org/officeDocument/2006/relationships/image" Target="../media/image20.png"/><Relationship Id="rId8"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14.png"/><Relationship Id="rId8"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 Id="rId10" Type="http://schemas.openxmlformats.org/officeDocument/2006/relationships/image" Target="../media/image13.png"/><Relationship Id="rId9"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png"/><Relationship Id="rId7" Type="http://schemas.openxmlformats.org/officeDocument/2006/relationships/image" Target="../media/image14.png"/><Relationship Id="rId8"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1.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484500" y="3998300"/>
            <a:ext cx="4977600" cy="7854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dk1"/>
              </a:solidFill>
              <a:latin typeface="Poppins"/>
              <a:ea typeface="Poppins"/>
              <a:cs typeface="Poppins"/>
              <a:sym typeface="Poppins"/>
            </a:endParaRPr>
          </a:p>
        </p:txBody>
      </p:sp>
      <p:sp>
        <p:nvSpPr>
          <p:cNvPr id="55" name="Google Shape;55;p13"/>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56" name="Google Shape;56;p13"/>
          <p:cNvSpPr txBox="1"/>
          <p:nvPr/>
        </p:nvSpPr>
        <p:spPr>
          <a:xfrm>
            <a:off x="5725513" y="367200"/>
            <a:ext cx="2934000" cy="3047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3100">
                <a:latin typeface="Poppins"/>
                <a:ea typeface="Poppins"/>
                <a:cs typeface="Poppins"/>
                <a:sym typeface="Poppins"/>
              </a:rPr>
              <a:t>Cómo crear un proyecto de Ingeniería de datos de inicio a fin con IA</a:t>
            </a:r>
            <a:endParaRPr b="1" sz="3100">
              <a:solidFill>
                <a:schemeClr val="accent5"/>
              </a:solidFill>
              <a:latin typeface="Poppins"/>
              <a:ea typeface="Poppins"/>
              <a:cs typeface="Poppins"/>
              <a:sym typeface="Poppins"/>
            </a:endParaRPr>
          </a:p>
        </p:txBody>
      </p:sp>
      <p:sp>
        <p:nvSpPr>
          <p:cNvPr id="57" name="Google Shape;57;p13"/>
          <p:cNvSpPr/>
          <p:nvPr/>
        </p:nvSpPr>
        <p:spPr>
          <a:xfrm>
            <a:off x="4212663" y="444525"/>
            <a:ext cx="1221900" cy="3007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solidFill>
                  <a:schemeClr val="dk1"/>
                </a:solidFill>
                <a:latin typeface="Poppins"/>
                <a:ea typeface="Poppins"/>
                <a:cs typeface="Poppins"/>
                <a:sym typeface="Poppins"/>
              </a:rPr>
              <a:t>Service</a:t>
            </a:r>
            <a:endParaRPr b="1" sz="1000">
              <a:solidFill>
                <a:schemeClr val="dk1"/>
              </a:solidFill>
              <a:latin typeface="Poppins"/>
              <a:ea typeface="Poppins"/>
              <a:cs typeface="Poppins"/>
              <a:sym typeface="Poppins"/>
            </a:endParaRPr>
          </a:p>
        </p:txBody>
      </p:sp>
      <p:sp>
        <p:nvSpPr>
          <p:cNvPr id="58" name="Google Shape;58;p13"/>
          <p:cNvSpPr/>
          <p:nvPr/>
        </p:nvSpPr>
        <p:spPr>
          <a:xfrm>
            <a:off x="3293138" y="471425"/>
            <a:ext cx="851400" cy="2980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latin typeface="Poppins"/>
                <a:ea typeface="Poppins"/>
                <a:cs typeface="Poppins"/>
                <a:sym typeface="Poppins"/>
              </a:rPr>
              <a:t>Load</a:t>
            </a:r>
            <a:endParaRPr b="1" sz="1000">
              <a:latin typeface="Poppins"/>
              <a:ea typeface="Poppins"/>
              <a:cs typeface="Poppins"/>
              <a:sym typeface="Poppins"/>
            </a:endParaRPr>
          </a:p>
        </p:txBody>
      </p:sp>
      <p:sp>
        <p:nvSpPr>
          <p:cNvPr id="59" name="Google Shape;59;p13"/>
          <p:cNvSpPr/>
          <p:nvPr/>
        </p:nvSpPr>
        <p:spPr>
          <a:xfrm>
            <a:off x="1888813" y="444525"/>
            <a:ext cx="1336200" cy="3007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latin typeface="Poppins"/>
                <a:ea typeface="Poppins"/>
                <a:cs typeface="Poppins"/>
                <a:sym typeface="Poppins"/>
              </a:rPr>
              <a:t>Transform</a:t>
            </a:r>
            <a:endParaRPr b="1" sz="1000">
              <a:latin typeface="Poppins"/>
              <a:ea typeface="Poppins"/>
              <a:cs typeface="Poppins"/>
              <a:sym typeface="Poppins"/>
            </a:endParaRPr>
          </a:p>
        </p:txBody>
      </p:sp>
      <p:sp>
        <p:nvSpPr>
          <p:cNvPr id="60" name="Google Shape;60;p13"/>
          <p:cNvSpPr/>
          <p:nvPr/>
        </p:nvSpPr>
        <p:spPr>
          <a:xfrm>
            <a:off x="484488" y="444525"/>
            <a:ext cx="1336200" cy="3007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s" sz="1000">
                <a:solidFill>
                  <a:schemeClr val="dk1"/>
                </a:solidFill>
                <a:latin typeface="Poppins"/>
                <a:ea typeface="Poppins"/>
                <a:cs typeface="Poppins"/>
                <a:sym typeface="Poppins"/>
              </a:rPr>
              <a:t>Extract</a:t>
            </a:r>
            <a:endParaRPr b="1" sz="1000">
              <a:solidFill>
                <a:schemeClr val="dk1"/>
              </a:solidFill>
              <a:latin typeface="Poppins"/>
              <a:ea typeface="Poppins"/>
              <a:cs typeface="Poppins"/>
              <a:sym typeface="Poppins"/>
            </a:endParaRPr>
          </a:p>
        </p:txBody>
      </p:sp>
      <p:pic>
        <p:nvPicPr>
          <p:cNvPr id="61" name="Google Shape;61;p13"/>
          <p:cNvPicPr preferRelativeResize="0"/>
          <p:nvPr/>
        </p:nvPicPr>
        <p:blipFill>
          <a:blip r:embed="rId3">
            <a:alphaModFix/>
          </a:blip>
          <a:stretch>
            <a:fillRect/>
          </a:stretch>
        </p:blipFill>
        <p:spPr>
          <a:xfrm>
            <a:off x="881247" y="785394"/>
            <a:ext cx="355569" cy="335674"/>
          </a:xfrm>
          <a:prstGeom prst="rect">
            <a:avLst/>
          </a:prstGeom>
          <a:noFill/>
          <a:ln>
            <a:noFill/>
          </a:ln>
        </p:spPr>
      </p:pic>
      <p:pic>
        <p:nvPicPr>
          <p:cNvPr id="62" name="Google Shape;62;p13"/>
          <p:cNvPicPr preferRelativeResize="0"/>
          <p:nvPr/>
        </p:nvPicPr>
        <p:blipFill>
          <a:blip r:embed="rId4">
            <a:alphaModFix/>
          </a:blip>
          <a:stretch>
            <a:fillRect/>
          </a:stretch>
        </p:blipFill>
        <p:spPr>
          <a:xfrm>
            <a:off x="714977" y="1415343"/>
            <a:ext cx="688096" cy="649595"/>
          </a:xfrm>
          <a:prstGeom prst="rect">
            <a:avLst/>
          </a:prstGeom>
          <a:noFill/>
          <a:ln>
            <a:noFill/>
          </a:ln>
        </p:spPr>
      </p:pic>
      <p:pic>
        <p:nvPicPr>
          <p:cNvPr id="63" name="Google Shape;63;p13"/>
          <p:cNvPicPr preferRelativeResize="0"/>
          <p:nvPr/>
        </p:nvPicPr>
        <p:blipFill>
          <a:blip r:embed="rId5">
            <a:alphaModFix/>
          </a:blip>
          <a:stretch>
            <a:fillRect/>
          </a:stretch>
        </p:blipFill>
        <p:spPr>
          <a:xfrm>
            <a:off x="3428923" y="1855884"/>
            <a:ext cx="557258" cy="526053"/>
          </a:xfrm>
          <a:prstGeom prst="rect">
            <a:avLst/>
          </a:prstGeom>
          <a:noFill/>
          <a:ln>
            <a:noFill/>
          </a:ln>
        </p:spPr>
      </p:pic>
      <p:pic>
        <p:nvPicPr>
          <p:cNvPr id="64" name="Google Shape;64;p13"/>
          <p:cNvPicPr preferRelativeResize="0"/>
          <p:nvPr/>
        </p:nvPicPr>
        <p:blipFill>
          <a:blip r:embed="rId6">
            <a:alphaModFix/>
          </a:blip>
          <a:stretch>
            <a:fillRect/>
          </a:stretch>
        </p:blipFill>
        <p:spPr>
          <a:xfrm>
            <a:off x="2278276" y="1856172"/>
            <a:ext cx="557265" cy="526068"/>
          </a:xfrm>
          <a:prstGeom prst="rect">
            <a:avLst/>
          </a:prstGeom>
          <a:noFill/>
          <a:ln>
            <a:noFill/>
          </a:ln>
        </p:spPr>
      </p:pic>
      <p:pic>
        <p:nvPicPr>
          <p:cNvPr id="65" name="Google Shape;65;p13"/>
          <p:cNvPicPr preferRelativeResize="0"/>
          <p:nvPr/>
        </p:nvPicPr>
        <p:blipFill>
          <a:blip r:embed="rId7">
            <a:alphaModFix/>
          </a:blip>
          <a:stretch>
            <a:fillRect/>
          </a:stretch>
        </p:blipFill>
        <p:spPr>
          <a:xfrm>
            <a:off x="4367137" y="1673879"/>
            <a:ext cx="943334" cy="890547"/>
          </a:xfrm>
          <a:prstGeom prst="rect">
            <a:avLst/>
          </a:prstGeom>
          <a:noFill/>
          <a:ln>
            <a:noFill/>
          </a:ln>
        </p:spPr>
      </p:pic>
      <p:cxnSp>
        <p:nvCxnSpPr>
          <p:cNvPr id="66" name="Google Shape;66;p13"/>
          <p:cNvCxnSpPr>
            <a:stCxn id="61" idx="2"/>
            <a:endCxn id="62" idx="0"/>
          </p:cNvCxnSpPr>
          <p:nvPr/>
        </p:nvCxnSpPr>
        <p:spPr>
          <a:xfrm>
            <a:off x="1059031" y="1121067"/>
            <a:ext cx="0" cy="294300"/>
          </a:xfrm>
          <a:prstGeom prst="straightConnector1">
            <a:avLst/>
          </a:prstGeom>
          <a:noFill/>
          <a:ln cap="flat" cmpd="sng" w="9525">
            <a:solidFill>
              <a:srgbClr val="000000"/>
            </a:solidFill>
            <a:prstDash val="solid"/>
            <a:round/>
            <a:headEnd len="med" w="med" type="triangle"/>
            <a:tailEnd len="med" w="med" type="triangle"/>
          </a:ln>
        </p:spPr>
      </p:cxnSp>
      <p:cxnSp>
        <p:nvCxnSpPr>
          <p:cNvPr id="67" name="Google Shape;67;p13"/>
          <p:cNvCxnSpPr>
            <a:stCxn id="64" idx="3"/>
            <a:endCxn id="63" idx="1"/>
          </p:cNvCxnSpPr>
          <p:nvPr/>
        </p:nvCxnSpPr>
        <p:spPr>
          <a:xfrm flipH="1" rot="10800000">
            <a:off x="2835541" y="2118906"/>
            <a:ext cx="593400" cy="300"/>
          </a:xfrm>
          <a:prstGeom prst="straightConnector1">
            <a:avLst/>
          </a:prstGeom>
          <a:noFill/>
          <a:ln cap="flat" cmpd="sng" w="19050">
            <a:solidFill>
              <a:srgbClr val="000000"/>
            </a:solidFill>
            <a:prstDash val="solid"/>
            <a:round/>
            <a:headEnd len="med" w="med" type="none"/>
            <a:tailEnd len="med" w="med" type="triangle"/>
          </a:ln>
        </p:spPr>
      </p:cxnSp>
      <p:pic>
        <p:nvPicPr>
          <p:cNvPr id="68" name="Google Shape;68;p13"/>
          <p:cNvPicPr preferRelativeResize="0"/>
          <p:nvPr/>
        </p:nvPicPr>
        <p:blipFill>
          <a:blip r:embed="rId3">
            <a:alphaModFix/>
          </a:blip>
          <a:stretch>
            <a:fillRect/>
          </a:stretch>
        </p:blipFill>
        <p:spPr>
          <a:xfrm>
            <a:off x="871819" y="2676431"/>
            <a:ext cx="355569" cy="335674"/>
          </a:xfrm>
          <a:prstGeom prst="rect">
            <a:avLst/>
          </a:prstGeom>
          <a:noFill/>
          <a:ln>
            <a:noFill/>
          </a:ln>
        </p:spPr>
      </p:pic>
      <p:pic>
        <p:nvPicPr>
          <p:cNvPr id="69" name="Google Shape;69;p13"/>
          <p:cNvPicPr preferRelativeResize="0"/>
          <p:nvPr/>
        </p:nvPicPr>
        <p:blipFill>
          <a:blip r:embed="rId5">
            <a:alphaModFix/>
          </a:blip>
          <a:stretch>
            <a:fillRect/>
          </a:stretch>
        </p:blipFill>
        <p:spPr>
          <a:xfrm>
            <a:off x="871822" y="2175940"/>
            <a:ext cx="355569" cy="335674"/>
          </a:xfrm>
          <a:prstGeom prst="rect">
            <a:avLst/>
          </a:prstGeom>
          <a:noFill/>
          <a:ln>
            <a:noFill/>
          </a:ln>
        </p:spPr>
      </p:pic>
      <p:cxnSp>
        <p:nvCxnSpPr>
          <p:cNvPr id="70" name="Google Shape;70;p13"/>
          <p:cNvCxnSpPr>
            <a:stCxn id="62" idx="3"/>
            <a:endCxn id="64" idx="1"/>
          </p:cNvCxnSpPr>
          <p:nvPr/>
        </p:nvCxnSpPr>
        <p:spPr>
          <a:xfrm>
            <a:off x="1403073" y="1740140"/>
            <a:ext cx="875100" cy="379200"/>
          </a:xfrm>
          <a:prstGeom prst="bentConnector3">
            <a:avLst>
              <a:gd fmla="val 50006" name="adj1"/>
            </a:avLst>
          </a:prstGeom>
          <a:noFill/>
          <a:ln cap="flat" cmpd="sng" w="19050">
            <a:solidFill>
              <a:srgbClr val="000000"/>
            </a:solidFill>
            <a:prstDash val="solid"/>
            <a:round/>
            <a:headEnd len="med" w="med" type="none"/>
            <a:tailEnd len="med" w="med" type="triangle"/>
          </a:ln>
        </p:spPr>
      </p:cxnSp>
      <p:cxnSp>
        <p:nvCxnSpPr>
          <p:cNvPr id="71" name="Google Shape;71;p13"/>
          <p:cNvCxnSpPr>
            <a:stCxn id="69" idx="3"/>
            <a:endCxn id="64" idx="1"/>
          </p:cNvCxnSpPr>
          <p:nvPr/>
        </p:nvCxnSpPr>
        <p:spPr>
          <a:xfrm flipH="1" rot="10800000">
            <a:off x="1227390" y="2119077"/>
            <a:ext cx="1050900" cy="224700"/>
          </a:xfrm>
          <a:prstGeom prst="bentConnector3">
            <a:avLst>
              <a:gd fmla="val 49999" name="adj1"/>
            </a:avLst>
          </a:prstGeom>
          <a:noFill/>
          <a:ln cap="flat" cmpd="sng" w="19050">
            <a:solidFill>
              <a:srgbClr val="000000"/>
            </a:solidFill>
            <a:prstDash val="solid"/>
            <a:round/>
            <a:headEnd len="med" w="med" type="none"/>
            <a:tailEnd len="med" w="med" type="triangle"/>
          </a:ln>
        </p:spPr>
      </p:cxnSp>
      <p:cxnSp>
        <p:nvCxnSpPr>
          <p:cNvPr id="72" name="Google Shape;72;p13"/>
          <p:cNvCxnSpPr>
            <a:stCxn id="68" idx="3"/>
            <a:endCxn id="64" idx="1"/>
          </p:cNvCxnSpPr>
          <p:nvPr/>
        </p:nvCxnSpPr>
        <p:spPr>
          <a:xfrm flipH="1" rot="10800000">
            <a:off x="1227388" y="2119168"/>
            <a:ext cx="1050900" cy="725100"/>
          </a:xfrm>
          <a:prstGeom prst="bentConnector3">
            <a:avLst>
              <a:gd fmla="val 49999" name="adj1"/>
            </a:avLst>
          </a:prstGeom>
          <a:noFill/>
          <a:ln cap="flat" cmpd="sng" w="19050">
            <a:solidFill>
              <a:srgbClr val="000000"/>
            </a:solidFill>
            <a:prstDash val="solid"/>
            <a:round/>
            <a:headEnd len="med" w="med" type="none"/>
            <a:tailEnd len="med" w="med" type="triangle"/>
          </a:ln>
        </p:spPr>
      </p:cxnSp>
      <p:cxnSp>
        <p:nvCxnSpPr>
          <p:cNvPr id="73" name="Google Shape;73;p13"/>
          <p:cNvCxnSpPr>
            <a:stCxn id="63" idx="3"/>
            <a:endCxn id="65" idx="1"/>
          </p:cNvCxnSpPr>
          <p:nvPr/>
        </p:nvCxnSpPr>
        <p:spPr>
          <a:xfrm>
            <a:off x="3986181" y="2118910"/>
            <a:ext cx="381000" cy="600"/>
          </a:xfrm>
          <a:prstGeom prst="bentConnector3">
            <a:avLst>
              <a:gd fmla="val 49994" name="adj1"/>
            </a:avLst>
          </a:prstGeom>
          <a:noFill/>
          <a:ln cap="flat" cmpd="sng" w="19050">
            <a:solidFill>
              <a:srgbClr val="000000"/>
            </a:solidFill>
            <a:prstDash val="solid"/>
            <a:round/>
            <a:headEnd len="med" w="med" type="none"/>
            <a:tailEnd len="med" w="med" type="triangle"/>
          </a:ln>
        </p:spPr>
      </p:cxnSp>
      <p:pic>
        <p:nvPicPr>
          <p:cNvPr id="74" name="Google Shape;74;p13"/>
          <p:cNvPicPr preferRelativeResize="0"/>
          <p:nvPr/>
        </p:nvPicPr>
        <p:blipFill>
          <a:blip r:embed="rId8">
            <a:alphaModFix/>
          </a:blip>
          <a:stretch>
            <a:fillRect/>
          </a:stretch>
        </p:blipFill>
        <p:spPr>
          <a:xfrm>
            <a:off x="5119363" y="330075"/>
            <a:ext cx="401850" cy="401850"/>
          </a:xfrm>
          <a:prstGeom prst="rect">
            <a:avLst/>
          </a:prstGeom>
          <a:noFill/>
          <a:ln>
            <a:noFill/>
          </a:ln>
        </p:spPr>
      </p:pic>
      <p:pic>
        <p:nvPicPr>
          <p:cNvPr id="75" name="Google Shape;75;p13"/>
          <p:cNvPicPr preferRelativeResize="0"/>
          <p:nvPr/>
        </p:nvPicPr>
        <p:blipFill>
          <a:blip r:embed="rId9">
            <a:alphaModFix/>
          </a:blip>
          <a:stretch>
            <a:fillRect/>
          </a:stretch>
        </p:blipFill>
        <p:spPr>
          <a:xfrm>
            <a:off x="4648675" y="4155650"/>
            <a:ext cx="470700" cy="470700"/>
          </a:xfrm>
          <a:prstGeom prst="rect">
            <a:avLst/>
          </a:prstGeom>
          <a:noFill/>
          <a:ln>
            <a:noFill/>
          </a:ln>
        </p:spPr>
      </p:pic>
      <p:sp>
        <p:nvSpPr>
          <p:cNvPr id="76" name="Google Shape;76;p13"/>
          <p:cNvSpPr/>
          <p:nvPr/>
        </p:nvSpPr>
        <p:spPr>
          <a:xfrm rot="5400000">
            <a:off x="2737950" y="1198575"/>
            <a:ext cx="470700" cy="49776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pic>
        <p:nvPicPr>
          <p:cNvPr id="77" name="Google Shape;77;p13"/>
          <p:cNvPicPr preferRelativeResize="0"/>
          <p:nvPr/>
        </p:nvPicPr>
        <p:blipFill>
          <a:blip r:embed="rId10">
            <a:alphaModFix/>
          </a:blip>
          <a:stretch>
            <a:fillRect/>
          </a:stretch>
        </p:blipFill>
        <p:spPr>
          <a:xfrm>
            <a:off x="814265" y="4155661"/>
            <a:ext cx="470700" cy="470684"/>
          </a:xfrm>
          <a:prstGeom prst="rect">
            <a:avLst/>
          </a:prstGeom>
          <a:noFill/>
          <a:ln>
            <a:noFill/>
          </a:ln>
        </p:spPr>
      </p:pic>
      <p:sp>
        <p:nvSpPr>
          <p:cNvPr id="78" name="Google Shape;78;p13"/>
          <p:cNvSpPr txBox="1"/>
          <p:nvPr/>
        </p:nvSpPr>
        <p:spPr>
          <a:xfrm>
            <a:off x="1526150" y="4155650"/>
            <a:ext cx="2964900" cy="47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chemeClr val="dk2"/>
                </a:solidFill>
                <a:latin typeface="Poppins"/>
                <a:ea typeface="Poppins"/>
                <a:cs typeface="Poppins"/>
                <a:sym typeface="Poppins"/>
              </a:rPr>
              <a:t>Desarrollo de proyectos</a:t>
            </a:r>
            <a:endParaRPr b="1" sz="1200">
              <a:solidFill>
                <a:schemeClr val="dk2"/>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p:nvPr/>
        </p:nvSpPr>
        <p:spPr>
          <a:xfrm>
            <a:off x="0" y="0"/>
            <a:ext cx="6159600" cy="4415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84" name="Google Shape;84;p14"/>
          <p:cNvSpPr txBox="1"/>
          <p:nvPr/>
        </p:nvSpPr>
        <p:spPr>
          <a:xfrm>
            <a:off x="4091425" y="1422100"/>
            <a:ext cx="4646700" cy="17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900">
                <a:solidFill>
                  <a:srgbClr val="000000"/>
                </a:solidFill>
                <a:latin typeface="Poppins"/>
                <a:ea typeface="Poppins"/>
                <a:cs typeface="Poppins"/>
                <a:sym typeface="Poppins"/>
              </a:rPr>
              <a:t>Redes Sociales</a:t>
            </a:r>
            <a:endParaRPr b="1" sz="2100">
              <a:solidFill>
                <a:srgbClr val="000000"/>
              </a:solidFill>
              <a:latin typeface="Poppins"/>
              <a:ea typeface="Poppins"/>
              <a:cs typeface="Poppins"/>
              <a:sym typeface="Poppins"/>
            </a:endParaRPr>
          </a:p>
          <a:p>
            <a:pPr indent="0" lvl="0" marL="0" rtl="0" algn="l">
              <a:spcBef>
                <a:spcPts val="0"/>
              </a:spcBef>
              <a:spcAft>
                <a:spcPts val="0"/>
              </a:spcAft>
              <a:buNone/>
            </a:pPr>
            <a:r>
              <a:t/>
            </a:r>
            <a:endParaRPr b="1" sz="2100">
              <a:solidFill>
                <a:srgbClr val="000000"/>
              </a:solidFill>
              <a:latin typeface="Poppins"/>
              <a:ea typeface="Poppins"/>
              <a:cs typeface="Poppins"/>
              <a:sym typeface="Poppins"/>
            </a:endParaRPr>
          </a:p>
          <a:p>
            <a:pPr indent="-323850" lvl="0" marL="457200" rtl="0" algn="l">
              <a:spcBef>
                <a:spcPts val="0"/>
              </a:spcBef>
              <a:spcAft>
                <a:spcPts val="0"/>
              </a:spcAft>
              <a:buClr>
                <a:srgbClr val="000000"/>
              </a:buClr>
              <a:buSzPts val="1500"/>
              <a:buFont typeface="Poppins"/>
              <a:buChar char="●"/>
            </a:pPr>
            <a:r>
              <a:rPr lang="es" sz="1500">
                <a:solidFill>
                  <a:srgbClr val="000000"/>
                </a:solidFill>
                <a:latin typeface="Poppins"/>
                <a:ea typeface="Poppins"/>
                <a:cs typeface="Poppins"/>
                <a:sym typeface="Poppins"/>
              </a:rPr>
              <a:t>LinkedIn: flaviocesarsandoval</a:t>
            </a:r>
            <a:endParaRPr sz="1500">
              <a:solidFill>
                <a:srgbClr val="000000"/>
              </a:solidFill>
              <a:latin typeface="Poppins"/>
              <a:ea typeface="Poppins"/>
              <a:cs typeface="Poppins"/>
              <a:sym typeface="Poppins"/>
            </a:endParaRPr>
          </a:p>
          <a:p>
            <a:pPr indent="-323850" lvl="0" marL="457200" rtl="0" algn="l">
              <a:spcBef>
                <a:spcPts val="0"/>
              </a:spcBef>
              <a:spcAft>
                <a:spcPts val="0"/>
              </a:spcAft>
              <a:buClr>
                <a:srgbClr val="000000"/>
              </a:buClr>
              <a:buSzPts val="1500"/>
              <a:buFont typeface="Poppins"/>
              <a:buChar char="●"/>
            </a:pPr>
            <a:r>
              <a:rPr lang="es" sz="1500">
                <a:solidFill>
                  <a:srgbClr val="000000"/>
                </a:solidFill>
                <a:latin typeface="Poppins"/>
                <a:ea typeface="Poppins"/>
                <a:cs typeface="Poppins"/>
                <a:sym typeface="Poppins"/>
              </a:rPr>
              <a:t>Twitter: DSandovalFlavio</a:t>
            </a:r>
            <a:endParaRPr sz="1500">
              <a:solidFill>
                <a:srgbClr val="000000"/>
              </a:solidFill>
              <a:latin typeface="Poppins"/>
              <a:ea typeface="Poppins"/>
              <a:cs typeface="Poppins"/>
              <a:sym typeface="Poppins"/>
            </a:endParaRPr>
          </a:p>
          <a:p>
            <a:pPr indent="-323850" lvl="0" marL="457200" rtl="0" algn="l">
              <a:spcBef>
                <a:spcPts val="0"/>
              </a:spcBef>
              <a:spcAft>
                <a:spcPts val="0"/>
              </a:spcAft>
              <a:buClr>
                <a:srgbClr val="000000"/>
              </a:buClr>
              <a:buSzPts val="1500"/>
              <a:buFont typeface="Poppins"/>
              <a:buChar char="●"/>
            </a:pPr>
            <a:r>
              <a:rPr lang="es" sz="1500">
                <a:solidFill>
                  <a:srgbClr val="000000"/>
                </a:solidFill>
                <a:latin typeface="Poppins"/>
                <a:ea typeface="Poppins"/>
                <a:cs typeface="Poppins"/>
                <a:sym typeface="Poppins"/>
              </a:rPr>
              <a:t>GitHub: DSandovalFlavio</a:t>
            </a:r>
            <a:endParaRPr sz="1500">
              <a:solidFill>
                <a:srgbClr val="000000"/>
              </a:solidFill>
              <a:latin typeface="Poppins"/>
              <a:ea typeface="Poppins"/>
              <a:cs typeface="Poppins"/>
              <a:sym typeface="Poppins"/>
            </a:endParaRPr>
          </a:p>
        </p:txBody>
      </p:sp>
      <p:sp>
        <p:nvSpPr>
          <p:cNvPr id="85" name="Google Shape;85;p14"/>
          <p:cNvSpPr txBox="1"/>
          <p:nvPr/>
        </p:nvSpPr>
        <p:spPr>
          <a:xfrm>
            <a:off x="815600" y="642700"/>
            <a:ext cx="6766800" cy="7794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 sz="4200">
                <a:solidFill>
                  <a:srgbClr val="000000"/>
                </a:solidFill>
                <a:latin typeface="Poppins"/>
                <a:ea typeface="Poppins"/>
                <a:cs typeface="Poppins"/>
                <a:sym typeface="Poppins"/>
              </a:rPr>
              <a:t>Flavio Cesar Sandoval</a:t>
            </a:r>
            <a:endParaRPr b="1" sz="1900">
              <a:solidFill>
                <a:schemeClr val="accent1"/>
              </a:solidFill>
              <a:latin typeface="Poppins"/>
              <a:ea typeface="Poppins"/>
              <a:cs typeface="Poppins"/>
              <a:sym typeface="Poppins"/>
            </a:endParaRPr>
          </a:p>
        </p:txBody>
      </p:sp>
      <p:sp>
        <p:nvSpPr>
          <p:cNvPr id="86" name="Google Shape;86;p14"/>
          <p:cNvSpPr txBox="1"/>
          <p:nvPr/>
        </p:nvSpPr>
        <p:spPr>
          <a:xfrm>
            <a:off x="746125" y="1422100"/>
            <a:ext cx="3345300" cy="1743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900">
                <a:latin typeface="Poppins"/>
                <a:ea typeface="Poppins"/>
                <a:cs typeface="Poppins"/>
                <a:sym typeface="Poppins"/>
              </a:rPr>
              <a:t>Data Enginner Manager</a:t>
            </a:r>
            <a:endParaRPr b="1" sz="1900">
              <a:latin typeface="Poppins"/>
              <a:ea typeface="Poppins"/>
              <a:cs typeface="Poppins"/>
              <a:sym typeface="Poppins"/>
            </a:endParaRPr>
          </a:p>
          <a:p>
            <a:pPr indent="0" lvl="0" marL="0" rtl="0" algn="l">
              <a:spcBef>
                <a:spcPts val="0"/>
              </a:spcBef>
              <a:spcAft>
                <a:spcPts val="0"/>
              </a:spcAft>
              <a:buNone/>
            </a:pPr>
            <a:r>
              <a:t/>
            </a:r>
            <a:endParaRPr b="1" sz="1900">
              <a:latin typeface="Poppins"/>
              <a:ea typeface="Poppins"/>
              <a:cs typeface="Poppins"/>
              <a:sym typeface="Poppins"/>
            </a:endParaRPr>
          </a:p>
          <a:p>
            <a:pPr indent="-323850" lvl="0" marL="457200" rtl="0" algn="l">
              <a:spcBef>
                <a:spcPts val="0"/>
              </a:spcBef>
              <a:spcAft>
                <a:spcPts val="0"/>
              </a:spcAft>
              <a:buClr>
                <a:srgbClr val="000000"/>
              </a:buClr>
              <a:buSzPts val="1500"/>
              <a:buFont typeface="Poppins"/>
              <a:buChar char="●"/>
            </a:pPr>
            <a:r>
              <a:rPr lang="es" sz="1500">
                <a:latin typeface="Poppins"/>
                <a:ea typeface="Poppins"/>
                <a:cs typeface="Poppins"/>
                <a:sym typeface="Poppins"/>
              </a:rPr>
              <a:t>SQL Developer</a:t>
            </a:r>
            <a:endParaRPr sz="1500">
              <a:latin typeface="Poppins"/>
              <a:ea typeface="Poppins"/>
              <a:cs typeface="Poppins"/>
              <a:sym typeface="Poppins"/>
            </a:endParaRPr>
          </a:p>
          <a:p>
            <a:pPr indent="-323850" lvl="0" marL="457200" rtl="0" algn="l">
              <a:spcBef>
                <a:spcPts val="0"/>
              </a:spcBef>
              <a:spcAft>
                <a:spcPts val="0"/>
              </a:spcAft>
              <a:buClr>
                <a:srgbClr val="000000"/>
              </a:buClr>
              <a:buSzPts val="1500"/>
              <a:buFont typeface="Poppins"/>
              <a:buChar char="●"/>
            </a:pPr>
            <a:r>
              <a:rPr lang="es" sz="1500">
                <a:latin typeface="Poppins"/>
                <a:ea typeface="Poppins"/>
                <a:cs typeface="Poppins"/>
                <a:sym typeface="Poppins"/>
              </a:rPr>
              <a:t>Data Analyst</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s" sz="1500">
                <a:latin typeface="Poppins"/>
                <a:ea typeface="Poppins"/>
                <a:cs typeface="Poppins"/>
                <a:sym typeface="Poppins"/>
              </a:rPr>
              <a:t>Marketing Science Analyst</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s" sz="1500">
                <a:latin typeface="Poppins"/>
                <a:ea typeface="Poppins"/>
                <a:cs typeface="Poppins"/>
                <a:sym typeface="Poppins"/>
              </a:rPr>
              <a:t>Data Engineer 3 años</a:t>
            </a:r>
            <a:endParaRPr sz="1500">
              <a:latin typeface="Poppins"/>
              <a:ea typeface="Poppins"/>
              <a:cs typeface="Poppins"/>
              <a:sym typeface="Poppins"/>
            </a:endParaRPr>
          </a:p>
        </p:txBody>
      </p:sp>
      <p:sp>
        <p:nvSpPr>
          <p:cNvPr id="87" name="Google Shape;87;p14"/>
          <p:cNvSpPr txBox="1"/>
          <p:nvPr/>
        </p:nvSpPr>
        <p:spPr>
          <a:xfrm>
            <a:off x="815600" y="3308500"/>
            <a:ext cx="3756300" cy="91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 sz="1500">
                <a:latin typeface="Poppins"/>
                <a:ea typeface="Poppins"/>
                <a:cs typeface="Poppins"/>
                <a:sym typeface="Poppins"/>
              </a:rPr>
              <a:t>Profesor en los Bootcamp dedicados </a:t>
            </a:r>
            <a:endParaRPr i="1" sz="1500">
              <a:latin typeface="Poppins"/>
              <a:ea typeface="Poppins"/>
              <a:cs typeface="Poppins"/>
              <a:sym typeface="Poppins"/>
            </a:endParaRPr>
          </a:p>
          <a:p>
            <a:pPr indent="0" lvl="0" marL="0" rtl="0" algn="l">
              <a:spcBef>
                <a:spcPts val="0"/>
              </a:spcBef>
              <a:spcAft>
                <a:spcPts val="0"/>
              </a:spcAft>
              <a:buNone/>
            </a:pPr>
            <a:r>
              <a:rPr i="1" lang="es" sz="1500">
                <a:latin typeface="Poppins"/>
                <a:ea typeface="Poppins"/>
                <a:cs typeface="Poppins"/>
                <a:sym typeface="Poppins"/>
              </a:rPr>
              <a:t>a la Ingeniería y Ciencia de Datos en</a:t>
            </a:r>
            <a:endParaRPr i="1" sz="1500">
              <a:latin typeface="Poppins"/>
              <a:ea typeface="Poppins"/>
              <a:cs typeface="Poppins"/>
              <a:sym typeface="Poppins"/>
            </a:endParaRPr>
          </a:p>
          <a:p>
            <a:pPr indent="0" lvl="0" marL="0" rtl="0" algn="l">
              <a:spcBef>
                <a:spcPts val="0"/>
              </a:spcBef>
              <a:spcAft>
                <a:spcPts val="0"/>
              </a:spcAft>
              <a:buNone/>
            </a:pPr>
            <a:r>
              <a:rPr i="1" lang="es" sz="1500">
                <a:latin typeface="Poppins"/>
                <a:ea typeface="Poppins"/>
                <a:cs typeface="Poppins"/>
                <a:sym typeface="Poppins"/>
              </a:rPr>
              <a:t>Código Facilito</a:t>
            </a:r>
            <a:endParaRPr i="1" sz="1500">
              <a:latin typeface="Poppins"/>
              <a:ea typeface="Poppins"/>
              <a:cs typeface="Poppins"/>
              <a:sym typeface="Poppins"/>
            </a:endParaRPr>
          </a:p>
        </p:txBody>
      </p:sp>
      <p:pic>
        <p:nvPicPr>
          <p:cNvPr id="88" name="Google Shape;88;p14"/>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89" name="Google Shape;89;p14"/>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5"/>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95" name="Google Shape;95;p15"/>
          <p:cNvSpPr txBox="1"/>
          <p:nvPr/>
        </p:nvSpPr>
        <p:spPr>
          <a:xfrm>
            <a:off x="663900" y="1656250"/>
            <a:ext cx="7816200" cy="673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2700">
                <a:latin typeface="Poppins"/>
                <a:ea typeface="Poppins"/>
                <a:cs typeface="Poppins"/>
                <a:sym typeface="Poppins"/>
              </a:rPr>
              <a:t>¿A quién está dirigido este curso?</a:t>
            </a:r>
            <a:endParaRPr b="1" sz="2700">
              <a:solidFill>
                <a:schemeClr val="accent1"/>
              </a:solidFill>
              <a:latin typeface="Poppins"/>
              <a:ea typeface="Poppins"/>
              <a:cs typeface="Poppins"/>
              <a:sym typeface="Poppins"/>
            </a:endParaRPr>
          </a:p>
        </p:txBody>
      </p:sp>
      <p:pic>
        <p:nvPicPr>
          <p:cNvPr id="96" name="Google Shape;96;p15"/>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97" name="Google Shape;97;p15"/>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03" name="Google Shape;103;p16"/>
          <p:cNvSpPr txBox="1"/>
          <p:nvPr/>
        </p:nvSpPr>
        <p:spPr>
          <a:xfrm>
            <a:off x="663900" y="1656250"/>
            <a:ext cx="7816200" cy="673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2700">
                <a:latin typeface="Poppins"/>
                <a:ea typeface="Poppins"/>
                <a:cs typeface="Poppins"/>
                <a:sym typeface="Poppins"/>
              </a:rPr>
              <a:t>¿Por qué es importante este curso?</a:t>
            </a:r>
            <a:endParaRPr b="1" sz="2700">
              <a:solidFill>
                <a:schemeClr val="accent1"/>
              </a:solidFill>
              <a:latin typeface="Poppins"/>
              <a:ea typeface="Poppins"/>
              <a:cs typeface="Poppins"/>
              <a:sym typeface="Poppins"/>
            </a:endParaRPr>
          </a:p>
        </p:txBody>
      </p:sp>
      <p:pic>
        <p:nvPicPr>
          <p:cNvPr id="104" name="Google Shape;104;p16"/>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105" name="Google Shape;105;p16"/>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11" name="Google Shape;111;p17"/>
          <p:cNvSpPr txBox="1"/>
          <p:nvPr/>
        </p:nvSpPr>
        <p:spPr>
          <a:xfrm>
            <a:off x="605250" y="1279550"/>
            <a:ext cx="7498800" cy="2682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Font typeface="Poppins"/>
              <a:buChar char="●"/>
            </a:pPr>
            <a:r>
              <a:rPr lang="es" sz="1500">
                <a:latin typeface="Poppins"/>
                <a:ea typeface="Poppins"/>
                <a:cs typeface="Poppins"/>
                <a:sym typeface="Poppins"/>
              </a:rPr>
              <a:t>Definir los conocimientos y habilidades necesarios para un proyecto de ingeniería de datos exitoso.</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s" sz="1500">
                <a:latin typeface="Poppins"/>
                <a:ea typeface="Poppins"/>
                <a:cs typeface="Poppins"/>
                <a:sym typeface="Poppins"/>
              </a:rPr>
              <a:t>Diseñar y estructurar un proyecto de ingeniería de datos completo, desde la definición del problema hasta la comunicación de resultados.</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s" sz="1500">
                <a:latin typeface="Poppins"/>
                <a:ea typeface="Poppins"/>
                <a:cs typeface="Poppins"/>
                <a:sym typeface="Poppins"/>
              </a:rPr>
              <a:t>Generar ideas de proyectos innovadoras utilizando IA.</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s" sz="1500">
                <a:latin typeface="Poppins"/>
                <a:ea typeface="Poppins"/>
                <a:cs typeface="Poppins"/>
                <a:sym typeface="Poppins"/>
              </a:rPr>
              <a:t>Identificar y seleccionar fuentes de datos relevantes para el proyecto.</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s" sz="1500">
                <a:latin typeface="Poppins"/>
                <a:ea typeface="Poppins"/>
                <a:cs typeface="Poppins"/>
                <a:sym typeface="Poppins"/>
              </a:rPr>
              <a:t>Implementar un proyecto de ingeniería de datos utilizando herramientas y tecnologías de vanguardia.</a:t>
            </a:r>
            <a:endParaRPr sz="1500">
              <a:latin typeface="Poppins"/>
              <a:ea typeface="Poppins"/>
              <a:cs typeface="Poppins"/>
              <a:sym typeface="Poppins"/>
            </a:endParaRPr>
          </a:p>
          <a:p>
            <a:pPr indent="-323850" lvl="0" marL="457200" rtl="0" algn="l">
              <a:spcBef>
                <a:spcPts val="0"/>
              </a:spcBef>
              <a:spcAft>
                <a:spcPts val="0"/>
              </a:spcAft>
              <a:buSzPts val="1500"/>
              <a:buFont typeface="Poppins"/>
              <a:buChar char="●"/>
            </a:pPr>
            <a:r>
              <a:rPr lang="es" sz="1500">
                <a:latin typeface="Poppins"/>
                <a:ea typeface="Poppins"/>
                <a:cs typeface="Poppins"/>
                <a:sym typeface="Poppins"/>
              </a:rPr>
              <a:t>Desarrollar entregables profesionales que comuniquen efectivamente los resultados del proyecto a audiencias técnicas y no técnicas.</a:t>
            </a:r>
            <a:endParaRPr sz="1500">
              <a:latin typeface="Poppins"/>
              <a:ea typeface="Poppins"/>
              <a:cs typeface="Poppins"/>
              <a:sym typeface="Poppins"/>
            </a:endParaRPr>
          </a:p>
        </p:txBody>
      </p:sp>
      <p:sp>
        <p:nvSpPr>
          <p:cNvPr id="112" name="Google Shape;112;p17"/>
          <p:cNvSpPr txBox="1"/>
          <p:nvPr/>
        </p:nvSpPr>
        <p:spPr>
          <a:xfrm>
            <a:off x="605250" y="606350"/>
            <a:ext cx="7816200" cy="6732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s" sz="2700">
                <a:latin typeface="Poppins"/>
                <a:ea typeface="Poppins"/>
                <a:cs typeface="Poppins"/>
                <a:sym typeface="Poppins"/>
              </a:rPr>
              <a:t>¿Qué vas a aprender?</a:t>
            </a:r>
            <a:endParaRPr b="1" sz="2700">
              <a:solidFill>
                <a:schemeClr val="accent1"/>
              </a:solidFill>
              <a:latin typeface="Poppins"/>
              <a:ea typeface="Poppins"/>
              <a:cs typeface="Poppins"/>
              <a:sym typeface="Poppins"/>
            </a:endParaRPr>
          </a:p>
        </p:txBody>
      </p:sp>
      <p:pic>
        <p:nvPicPr>
          <p:cNvPr id="113" name="Google Shape;113;p17"/>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114" name="Google Shape;114;p17"/>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25" name="Google Shape;125;p19"/>
          <p:cNvSpPr txBox="1"/>
          <p:nvPr>
            <p:ph type="title"/>
          </p:nvPr>
        </p:nvSpPr>
        <p:spPr>
          <a:xfrm>
            <a:off x="5479075" y="410575"/>
            <a:ext cx="3345300" cy="308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sz="2800"/>
              <a:t>Identificación de conocimientos básicos para cualquier proyecto de ingeniería de datos</a:t>
            </a:r>
            <a:endParaRPr b="1" sz="2800">
              <a:solidFill>
                <a:schemeClr val="accent1"/>
              </a:solidFill>
            </a:endParaRPr>
          </a:p>
        </p:txBody>
      </p:sp>
      <p:sp>
        <p:nvSpPr>
          <p:cNvPr id="126" name="Google Shape;126;p19"/>
          <p:cNvSpPr/>
          <p:nvPr/>
        </p:nvSpPr>
        <p:spPr>
          <a:xfrm>
            <a:off x="4000313" y="450025"/>
            <a:ext cx="1221900" cy="3007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solidFill>
                  <a:schemeClr val="dk1"/>
                </a:solidFill>
                <a:latin typeface="Poppins"/>
                <a:ea typeface="Poppins"/>
                <a:cs typeface="Poppins"/>
                <a:sym typeface="Poppins"/>
              </a:rPr>
              <a:t>Service</a:t>
            </a:r>
            <a:endParaRPr b="1" sz="1000">
              <a:solidFill>
                <a:schemeClr val="dk1"/>
              </a:solidFill>
              <a:latin typeface="Poppins"/>
              <a:ea typeface="Poppins"/>
              <a:cs typeface="Poppins"/>
              <a:sym typeface="Poppins"/>
            </a:endParaRPr>
          </a:p>
        </p:txBody>
      </p:sp>
      <p:sp>
        <p:nvSpPr>
          <p:cNvPr id="127" name="Google Shape;127;p19"/>
          <p:cNvSpPr/>
          <p:nvPr/>
        </p:nvSpPr>
        <p:spPr>
          <a:xfrm>
            <a:off x="3080788" y="476925"/>
            <a:ext cx="851400" cy="2980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latin typeface="Poppins"/>
                <a:ea typeface="Poppins"/>
                <a:cs typeface="Poppins"/>
                <a:sym typeface="Poppins"/>
              </a:rPr>
              <a:t>Load</a:t>
            </a:r>
            <a:endParaRPr b="1" sz="1000">
              <a:latin typeface="Poppins"/>
              <a:ea typeface="Poppins"/>
              <a:cs typeface="Poppins"/>
              <a:sym typeface="Poppins"/>
            </a:endParaRPr>
          </a:p>
        </p:txBody>
      </p:sp>
      <p:sp>
        <p:nvSpPr>
          <p:cNvPr id="128" name="Google Shape;128;p19"/>
          <p:cNvSpPr/>
          <p:nvPr/>
        </p:nvSpPr>
        <p:spPr>
          <a:xfrm>
            <a:off x="1676463" y="450025"/>
            <a:ext cx="1336200" cy="3007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latin typeface="Poppins"/>
                <a:ea typeface="Poppins"/>
                <a:cs typeface="Poppins"/>
                <a:sym typeface="Poppins"/>
              </a:rPr>
              <a:t>Transform</a:t>
            </a:r>
            <a:endParaRPr b="1" sz="1000">
              <a:latin typeface="Poppins"/>
              <a:ea typeface="Poppins"/>
              <a:cs typeface="Poppins"/>
              <a:sym typeface="Poppins"/>
            </a:endParaRPr>
          </a:p>
        </p:txBody>
      </p:sp>
      <p:sp>
        <p:nvSpPr>
          <p:cNvPr id="129" name="Google Shape;129;p19"/>
          <p:cNvSpPr/>
          <p:nvPr/>
        </p:nvSpPr>
        <p:spPr>
          <a:xfrm>
            <a:off x="272138" y="450025"/>
            <a:ext cx="1336200" cy="3007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s" sz="1000">
                <a:solidFill>
                  <a:schemeClr val="dk1"/>
                </a:solidFill>
                <a:latin typeface="Poppins"/>
                <a:ea typeface="Poppins"/>
                <a:cs typeface="Poppins"/>
                <a:sym typeface="Poppins"/>
              </a:rPr>
              <a:t>Extract</a:t>
            </a:r>
            <a:endParaRPr b="1" sz="1000">
              <a:solidFill>
                <a:schemeClr val="dk1"/>
              </a:solidFill>
              <a:latin typeface="Poppins"/>
              <a:ea typeface="Poppins"/>
              <a:cs typeface="Poppins"/>
              <a:sym typeface="Poppins"/>
            </a:endParaRPr>
          </a:p>
        </p:txBody>
      </p:sp>
      <p:pic>
        <p:nvPicPr>
          <p:cNvPr id="130" name="Google Shape;130;p19"/>
          <p:cNvPicPr preferRelativeResize="0"/>
          <p:nvPr/>
        </p:nvPicPr>
        <p:blipFill>
          <a:blip r:embed="rId3">
            <a:alphaModFix/>
          </a:blip>
          <a:stretch>
            <a:fillRect/>
          </a:stretch>
        </p:blipFill>
        <p:spPr>
          <a:xfrm>
            <a:off x="668897" y="790894"/>
            <a:ext cx="355569" cy="335674"/>
          </a:xfrm>
          <a:prstGeom prst="rect">
            <a:avLst/>
          </a:prstGeom>
          <a:noFill/>
          <a:ln>
            <a:noFill/>
          </a:ln>
        </p:spPr>
      </p:pic>
      <p:pic>
        <p:nvPicPr>
          <p:cNvPr id="131" name="Google Shape;131;p19"/>
          <p:cNvPicPr preferRelativeResize="0"/>
          <p:nvPr/>
        </p:nvPicPr>
        <p:blipFill>
          <a:blip r:embed="rId4">
            <a:alphaModFix/>
          </a:blip>
          <a:stretch>
            <a:fillRect/>
          </a:stretch>
        </p:blipFill>
        <p:spPr>
          <a:xfrm>
            <a:off x="502627" y="1420843"/>
            <a:ext cx="688096" cy="649595"/>
          </a:xfrm>
          <a:prstGeom prst="rect">
            <a:avLst/>
          </a:prstGeom>
          <a:noFill/>
          <a:ln>
            <a:noFill/>
          </a:ln>
        </p:spPr>
      </p:pic>
      <p:pic>
        <p:nvPicPr>
          <p:cNvPr id="132" name="Google Shape;132;p19"/>
          <p:cNvPicPr preferRelativeResize="0"/>
          <p:nvPr/>
        </p:nvPicPr>
        <p:blipFill>
          <a:blip r:embed="rId5">
            <a:alphaModFix/>
          </a:blip>
          <a:stretch>
            <a:fillRect/>
          </a:stretch>
        </p:blipFill>
        <p:spPr>
          <a:xfrm>
            <a:off x="3216573" y="1861384"/>
            <a:ext cx="557258" cy="526053"/>
          </a:xfrm>
          <a:prstGeom prst="rect">
            <a:avLst/>
          </a:prstGeom>
          <a:noFill/>
          <a:ln>
            <a:noFill/>
          </a:ln>
        </p:spPr>
      </p:pic>
      <p:pic>
        <p:nvPicPr>
          <p:cNvPr id="133" name="Google Shape;133;p19"/>
          <p:cNvPicPr preferRelativeResize="0"/>
          <p:nvPr/>
        </p:nvPicPr>
        <p:blipFill>
          <a:blip r:embed="rId6">
            <a:alphaModFix/>
          </a:blip>
          <a:stretch>
            <a:fillRect/>
          </a:stretch>
        </p:blipFill>
        <p:spPr>
          <a:xfrm>
            <a:off x="2065926" y="1861672"/>
            <a:ext cx="557265" cy="526068"/>
          </a:xfrm>
          <a:prstGeom prst="rect">
            <a:avLst/>
          </a:prstGeom>
          <a:noFill/>
          <a:ln>
            <a:noFill/>
          </a:ln>
        </p:spPr>
      </p:pic>
      <p:pic>
        <p:nvPicPr>
          <p:cNvPr id="134" name="Google Shape;134;p19"/>
          <p:cNvPicPr preferRelativeResize="0"/>
          <p:nvPr/>
        </p:nvPicPr>
        <p:blipFill>
          <a:blip r:embed="rId7">
            <a:alphaModFix/>
          </a:blip>
          <a:stretch>
            <a:fillRect/>
          </a:stretch>
        </p:blipFill>
        <p:spPr>
          <a:xfrm>
            <a:off x="4154787" y="1679379"/>
            <a:ext cx="943334" cy="890547"/>
          </a:xfrm>
          <a:prstGeom prst="rect">
            <a:avLst/>
          </a:prstGeom>
          <a:noFill/>
          <a:ln>
            <a:noFill/>
          </a:ln>
        </p:spPr>
      </p:pic>
      <p:cxnSp>
        <p:nvCxnSpPr>
          <p:cNvPr id="135" name="Google Shape;135;p19"/>
          <p:cNvCxnSpPr>
            <a:stCxn id="130" idx="2"/>
            <a:endCxn id="131" idx="0"/>
          </p:cNvCxnSpPr>
          <p:nvPr/>
        </p:nvCxnSpPr>
        <p:spPr>
          <a:xfrm>
            <a:off x="846681" y="1126567"/>
            <a:ext cx="0" cy="294300"/>
          </a:xfrm>
          <a:prstGeom prst="straightConnector1">
            <a:avLst/>
          </a:prstGeom>
          <a:noFill/>
          <a:ln cap="flat" cmpd="sng" w="9525">
            <a:solidFill>
              <a:srgbClr val="000000"/>
            </a:solidFill>
            <a:prstDash val="solid"/>
            <a:round/>
            <a:headEnd len="med" w="med" type="triangle"/>
            <a:tailEnd len="med" w="med" type="triangle"/>
          </a:ln>
        </p:spPr>
      </p:cxnSp>
      <p:cxnSp>
        <p:nvCxnSpPr>
          <p:cNvPr id="136" name="Google Shape;136;p19"/>
          <p:cNvCxnSpPr>
            <a:stCxn id="133" idx="3"/>
            <a:endCxn id="132" idx="1"/>
          </p:cNvCxnSpPr>
          <p:nvPr/>
        </p:nvCxnSpPr>
        <p:spPr>
          <a:xfrm flipH="1" rot="10800000">
            <a:off x="2623191" y="2124406"/>
            <a:ext cx="593400" cy="300"/>
          </a:xfrm>
          <a:prstGeom prst="straightConnector1">
            <a:avLst/>
          </a:prstGeom>
          <a:noFill/>
          <a:ln cap="flat" cmpd="sng" w="19050">
            <a:solidFill>
              <a:srgbClr val="000000"/>
            </a:solidFill>
            <a:prstDash val="solid"/>
            <a:round/>
            <a:headEnd len="med" w="med" type="none"/>
            <a:tailEnd len="med" w="med" type="triangle"/>
          </a:ln>
        </p:spPr>
      </p:cxnSp>
      <p:pic>
        <p:nvPicPr>
          <p:cNvPr id="137" name="Google Shape;137;p19"/>
          <p:cNvPicPr preferRelativeResize="0"/>
          <p:nvPr/>
        </p:nvPicPr>
        <p:blipFill>
          <a:blip r:embed="rId3">
            <a:alphaModFix/>
          </a:blip>
          <a:stretch>
            <a:fillRect/>
          </a:stretch>
        </p:blipFill>
        <p:spPr>
          <a:xfrm>
            <a:off x="659469" y="2681931"/>
            <a:ext cx="355569" cy="335674"/>
          </a:xfrm>
          <a:prstGeom prst="rect">
            <a:avLst/>
          </a:prstGeom>
          <a:noFill/>
          <a:ln>
            <a:noFill/>
          </a:ln>
        </p:spPr>
      </p:pic>
      <p:pic>
        <p:nvPicPr>
          <p:cNvPr id="138" name="Google Shape;138;p19"/>
          <p:cNvPicPr preferRelativeResize="0"/>
          <p:nvPr/>
        </p:nvPicPr>
        <p:blipFill>
          <a:blip r:embed="rId5">
            <a:alphaModFix/>
          </a:blip>
          <a:stretch>
            <a:fillRect/>
          </a:stretch>
        </p:blipFill>
        <p:spPr>
          <a:xfrm>
            <a:off x="659472" y="2181440"/>
            <a:ext cx="355569" cy="335674"/>
          </a:xfrm>
          <a:prstGeom prst="rect">
            <a:avLst/>
          </a:prstGeom>
          <a:noFill/>
          <a:ln>
            <a:noFill/>
          </a:ln>
        </p:spPr>
      </p:pic>
      <p:cxnSp>
        <p:nvCxnSpPr>
          <p:cNvPr id="139" name="Google Shape;139;p19"/>
          <p:cNvCxnSpPr>
            <a:stCxn id="131" idx="3"/>
            <a:endCxn id="133" idx="1"/>
          </p:cNvCxnSpPr>
          <p:nvPr/>
        </p:nvCxnSpPr>
        <p:spPr>
          <a:xfrm>
            <a:off x="1190723" y="1745640"/>
            <a:ext cx="875100" cy="379200"/>
          </a:xfrm>
          <a:prstGeom prst="bentConnector3">
            <a:avLst>
              <a:gd fmla="val 50006" name="adj1"/>
            </a:avLst>
          </a:prstGeom>
          <a:noFill/>
          <a:ln cap="flat" cmpd="sng" w="19050">
            <a:solidFill>
              <a:srgbClr val="000000"/>
            </a:solidFill>
            <a:prstDash val="solid"/>
            <a:round/>
            <a:headEnd len="med" w="med" type="none"/>
            <a:tailEnd len="med" w="med" type="triangle"/>
          </a:ln>
        </p:spPr>
      </p:cxnSp>
      <p:cxnSp>
        <p:nvCxnSpPr>
          <p:cNvPr id="140" name="Google Shape;140;p19"/>
          <p:cNvCxnSpPr>
            <a:stCxn id="138" idx="3"/>
            <a:endCxn id="133" idx="1"/>
          </p:cNvCxnSpPr>
          <p:nvPr/>
        </p:nvCxnSpPr>
        <p:spPr>
          <a:xfrm flipH="1" rot="10800000">
            <a:off x="1015040" y="2124577"/>
            <a:ext cx="1050900" cy="224700"/>
          </a:xfrm>
          <a:prstGeom prst="bentConnector3">
            <a:avLst>
              <a:gd fmla="val 49999" name="adj1"/>
            </a:avLst>
          </a:prstGeom>
          <a:noFill/>
          <a:ln cap="flat" cmpd="sng" w="19050">
            <a:solidFill>
              <a:srgbClr val="000000"/>
            </a:solidFill>
            <a:prstDash val="solid"/>
            <a:round/>
            <a:headEnd len="med" w="med" type="none"/>
            <a:tailEnd len="med" w="med" type="triangle"/>
          </a:ln>
        </p:spPr>
      </p:cxnSp>
      <p:cxnSp>
        <p:nvCxnSpPr>
          <p:cNvPr id="141" name="Google Shape;141;p19"/>
          <p:cNvCxnSpPr>
            <a:stCxn id="137" idx="3"/>
            <a:endCxn id="133" idx="1"/>
          </p:cNvCxnSpPr>
          <p:nvPr/>
        </p:nvCxnSpPr>
        <p:spPr>
          <a:xfrm flipH="1" rot="10800000">
            <a:off x="1015038" y="2124668"/>
            <a:ext cx="1050900" cy="725100"/>
          </a:xfrm>
          <a:prstGeom prst="bentConnector3">
            <a:avLst>
              <a:gd fmla="val 49999" name="adj1"/>
            </a:avLst>
          </a:prstGeom>
          <a:noFill/>
          <a:ln cap="flat" cmpd="sng" w="19050">
            <a:solidFill>
              <a:srgbClr val="000000"/>
            </a:solidFill>
            <a:prstDash val="solid"/>
            <a:round/>
            <a:headEnd len="med" w="med" type="none"/>
            <a:tailEnd len="med" w="med" type="triangle"/>
          </a:ln>
        </p:spPr>
      </p:cxnSp>
      <p:cxnSp>
        <p:nvCxnSpPr>
          <p:cNvPr id="142" name="Google Shape;142;p19"/>
          <p:cNvCxnSpPr>
            <a:stCxn id="132" idx="3"/>
            <a:endCxn id="134" idx="1"/>
          </p:cNvCxnSpPr>
          <p:nvPr/>
        </p:nvCxnSpPr>
        <p:spPr>
          <a:xfrm>
            <a:off x="3773831" y="2124410"/>
            <a:ext cx="381000" cy="600"/>
          </a:xfrm>
          <a:prstGeom prst="bentConnector3">
            <a:avLst>
              <a:gd fmla="val 49994" name="adj1"/>
            </a:avLst>
          </a:prstGeom>
          <a:noFill/>
          <a:ln cap="flat" cmpd="sng" w="19050">
            <a:solidFill>
              <a:srgbClr val="000000"/>
            </a:solidFill>
            <a:prstDash val="solid"/>
            <a:round/>
            <a:headEnd len="med" w="med" type="none"/>
            <a:tailEnd len="med" w="med" type="triangle"/>
          </a:ln>
        </p:spPr>
      </p:cxnSp>
      <p:pic>
        <p:nvPicPr>
          <p:cNvPr id="143" name="Google Shape;143;p19"/>
          <p:cNvPicPr preferRelativeResize="0"/>
          <p:nvPr/>
        </p:nvPicPr>
        <p:blipFill>
          <a:blip r:embed="rId8">
            <a:alphaModFix/>
          </a:blip>
          <a:stretch>
            <a:fillRect/>
          </a:stretch>
        </p:blipFill>
        <p:spPr>
          <a:xfrm>
            <a:off x="4907013" y="335575"/>
            <a:ext cx="401850" cy="401850"/>
          </a:xfrm>
          <a:prstGeom prst="rect">
            <a:avLst/>
          </a:prstGeom>
          <a:noFill/>
          <a:ln>
            <a:noFill/>
          </a:ln>
        </p:spPr>
      </p:pic>
      <p:sp>
        <p:nvSpPr>
          <p:cNvPr id="144" name="Google Shape;144;p19"/>
          <p:cNvSpPr/>
          <p:nvPr/>
        </p:nvSpPr>
        <p:spPr>
          <a:xfrm>
            <a:off x="253800" y="3598475"/>
            <a:ext cx="4968300" cy="649500"/>
          </a:xfrm>
          <a:prstGeom prst="roundRect">
            <a:avLst>
              <a:gd fmla="val 16667" name="adj"/>
            </a:avLst>
          </a:prstGeom>
          <a:solidFill>
            <a:srgbClr val="D9EAD3"/>
          </a:solid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t/>
            </a:r>
            <a:endParaRPr b="1" sz="1000">
              <a:latin typeface="Poppins"/>
              <a:ea typeface="Poppins"/>
              <a:cs typeface="Poppins"/>
              <a:sym typeface="Poppins"/>
            </a:endParaRPr>
          </a:p>
        </p:txBody>
      </p:sp>
      <p:pic>
        <p:nvPicPr>
          <p:cNvPr id="145" name="Google Shape;145;p19"/>
          <p:cNvPicPr preferRelativeResize="0"/>
          <p:nvPr/>
        </p:nvPicPr>
        <p:blipFill>
          <a:blip r:embed="rId9">
            <a:alphaModFix/>
          </a:blip>
          <a:stretch>
            <a:fillRect/>
          </a:stretch>
        </p:blipFill>
        <p:spPr>
          <a:xfrm>
            <a:off x="690235" y="3685975"/>
            <a:ext cx="474500" cy="474500"/>
          </a:xfrm>
          <a:prstGeom prst="rect">
            <a:avLst/>
          </a:prstGeom>
          <a:noFill/>
          <a:ln>
            <a:noFill/>
          </a:ln>
        </p:spPr>
      </p:pic>
      <p:pic>
        <p:nvPicPr>
          <p:cNvPr id="146" name="Google Shape;146;p19"/>
          <p:cNvPicPr preferRelativeResize="0"/>
          <p:nvPr/>
        </p:nvPicPr>
        <p:blipFill>
          <a:blip r:embed="rId10">
            <a:alphaModFix/>
          </a:blip>
          <a:stretch>
            <a:fillRect/>
          </a:stretch>
        </p:blipFill>
        <p:spPr>
          <a:xfrm>
            <a:off x="2119000" y="3685975"/>
            <a:ext cx="474500" cy="474500"/>
          </a:xfrm>
          <a:prstGeom prst="rect">
            <a:avLst/>
          </a:prstGeom>
          <a:noFill/>
          <a:ln>
            <a:noFill/>
          </a:ln>
        </p:spPr>
      </p:pic>
      <p:pic>
        <p:nvPicPr>
          <p:cNvPr id="147" name="Google Shape;147;p19"/>
          <p:cNvPicPr preferRelativeResize="0"/>
          <p:nvPr/>
        </p:nvPicPr>
        <p:blipFill>
          <a:blip r:embed="rId11">
            <a:alphaModFix/>
          </a:blip>
          <a:stretch>
            <a:fillRect/>
          </a:stretch>
        </p:blipFill>
        <p:spPr>
          <a:xfrm>
            <a:off x="3379150" y="3660200"/>
            <a:ext cx="526051" cy="526051"/>
          </a:xfrm>
          <a:prstGeom prst="rect">
            <a:avLst/>
          </a:prstGeom>
          <a:noFill/>
          <a:ln>
            <a:noFill/>
          </a:ln>
        </p:spPr>
      </p:pic>
      <p:sp>
        <p:nvSpPr>
          <p:cNvPr id="148" name="Google Shape;148;p19"/>
          <p:cNvSpPr txBox="1"/>
          <p:nvPr/>
        </p:nvSpPr>
        <p:spPr>
          <a:xfrm>
            <a:off x="1238513" y="3685925"/>
            <a:ext cx="8067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800">
                <a:solidFill>
                  <a:schemeClr val="dk2"/>
                </a:solidFill>
                <a:latin typeface="Poppins"/>
                <a:ea typeface="Poppins"/>
                <a:cs typeface="Poppins"/>
                <a:sym typeface="Poppins"/>
              </a:rPr>
              <a:t>MySQL</a:t>
            </a:r>
            <a:endParaRPr b="1" sz="800">
              <a:solidFill>
                <a:schemeClr val="dk2"/>
              </a:solidFill>
              <a:latin typeface="Poppins"/>
              <a:ea typeface="Poppins"/>
              <a:cs typeface="Poppins"/>
              <a:sym typeface="Poppins"/>
            </a:endParaRPr>
          </a:p>
          <a:p>
            <a:pPr indent="0" lvl="0" marL="0" rtl="0" algn="l">
              <a:spcBef>
                <a:spcPts val="0"/>
              </a:spcBef>
              <a:spcAft>
                <a:spcPts val="0"/>
              </a:spcAft>
              <a:buNone/>
            </a:pPr>
            <a:r>
              <a:rPr b="1" lang="es" sz="800">
                <a:solidFill>
                  <a:schemeClr val="dk2"/>
                </a:solidFill>
                <a:latin typeface="Poppins"/>
                <a:ea typeface="Poppins"/>
                <a:cs typeface="Poppins"/>
                <a:sym typeface="Poppins"/>
              </a:rPr>
              <a:t>PostgreSQL</a:t>
            </a:r>
            <a:endParaRPr b="1" sz="800">
              <a:solidFill>
                <a:schemeClr val="dk2"/>
              </a:solidFill>
              <a:latin typeface="Poppins"/>
              <a:ea typeface="Poppins"/>
              <a:cs typeface="Poppins"/>
              <a:sym typeface="Poppins"/>
            </a:endParaRPr>
          </a:p>
          <a:p>
            <a:pPr indent="0" lvl="0" marL="0" rtl="0" algn="l">
              <a:spcBef>
                <a:spcPts val="0"/>
              </a:spcBef>
              <a:spcAft>
                <a:spcPts val="0"/>
              </a:spcAft>
              <a:buNone/>
            </a:pPr>
            <a:r>
              <a:rPr b="1" lang="es" sz="800">
                <a:solidFill>
                  <a:schemeClr val="dk2"/>
                </a:solidFill>
                <a:latin typeface="Poppins"/>
                <a:ea typeface="Poppins"/>
                <a:cs typeface="Poppins"/>
                <a:sym typeface="Poppins"/>
              </a:rPr>
              <a:t>SQL Server</a:t>
            </a:r>
            <a:endParaRPr b="1" sz="800">
              <a:solidFill>
                <a:schemeClr val="dk2"/>
              </a:solidFill>
              <a:latin typeface="Poppins"/>
              <a:ea typeface="Poppins"/>
              <a:cs typeface="Poppins"/>
              <a:sym typeface="Poppins"/>
            </a:endParaRPr>
          </a:p>
        </p:txBody>
      </p:sp>
      <p:sp>
        <p:nvSpPr>
          <p:cNvPr id="149" name="Google Shape;149;p19"/>
          <p:cNvSpPr txBox="1"/>
          <p:nvPr/>
        </p:nvSpPr>
        <p:spPr>
          <a:xfrm>
            <a:off x="2667275" y="3685925"/>
            <a:ext cx="6381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800">
                <a:solidFill>
                  <a:schemeClr val="dk2"/>
                </a:solidFill>
                <a:latin typeface="Poppins"/>
                <a:ea typeface="Poppins"/>
                <a:cs typeface="Poppins"/>
                <a:sym typeface="Poppins"/>
              </a:rPr>
              <a:t>Pandas</a:t>
            </a:r>
            <a:endParaRPr b="1" sz="800">
              <a:solidFill>
                <a:schemeClr val="dk2"/>
              </a:solidFill>
              <a:latin typeface="Poppins"/>
              <a:ea typeface="Poppins"/>
              <a:cs typeface="Poppins"/>
              <a:sym typeface="Poppins"/>
            </a:endParaRPr>
          </a:p>
          <a:p>
            <a:pPr indent="0" lvl="0" marL="0" rtl="0" algn="l">
              <a:spcBef>
                <a:spcPts val="0"/>
              </a:spcBef>
              <a:spcAft>
                <a:spcPts val="0"/>
              </a:spcAft>
              <a:buNone/>
            </a:pPr>
            <a:r>
              <a:rPr b="1" lang="es" sz="800">
                <a:solidFill>
                  <a:schemeClr val="dk2"/>
                </a:solidFill>
                <a:latin typeface="Poppins"/>
                <a:ea typeface="Poppins"/>
                <a:cs typeface="Poppins"/>
                <a:sym typeface="Poppins"/>
              </a:rPr>
              <a:t>Polars</a:t>
            </a:r>
            <a:endParaRPr b="1" sz="800">
              <a:solidFill>
                <a:schemeClr val="dk2"/>
              </a:solidFill>
              <a:latin typeface="Poppins"/>
              <a:ea typeface="Poppins"/>
              <a:cs typeface="Poppins"/>
              <a:sym typeface="Poppins"/>
            </a:endParaRPr>
          </a:p>
          <a:p>
            <a:pPr indent="0" lvl="0" marL="0" rtl="0" algn="l">
              <a:spcBef>
                <a:spcPts val="0"/>
              </a:spcBef>
              <a:spcAft>
                <a:spcPts val="0"/>
              </a:spcAft>
              <a:buNone/>
            </a:pPr>
            <a:r>
              <a:rPr b="1" lang="es" sz="800">
                <a:solidFill>
                  <a:schemeClr val="dk2"/>
                </a:solidFill>
                <a:latin typeface="Poppins"/>
                <a:ea typeface="Poppins"/>
                <a:cs typeface="Poppins"/>
                <a:sym typeface="Poppins"/>
              </a:rPr>
              <a:t>API</a:t>
            </a:r>
            <a:endParaRPr b="1" sz="800">
              <a:solidFill>
                <a:schemeClr val="dk2"/>
              </a:solidFill>
              <a:latin typeface="Poppins"/>
              <a:ea typeface="Poppins"/>
              <a:cs typeface="Poppins"/>
              <a:sym typeface="Poppins"/>
            </a:endParaRPr>
          </a:p>
        </p:txBody>
      </p:sp>
      <p:sp>
        <p:nvSpPr>
          <p:cNvPr id="150" name="Google Shape;150;p19"/>
          <p:cNvSpPr txBox="1"/>
          <p:nvPr/>
        </p:nvSpPr>
        <p:spPr>
          <a:xfrm>
            <a:off x="3978975" y="3685925"/>
            <a:ext cx="806700" cy="474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s" sz="800">
                <a:solidFill>
                  <a:schemeClr val="dk2"/>
                </a:solidFill>
                <a:latin typeface="Poppins"/>
                <a:ea typeface="Poppins"/>
                <a:cs typeface="Poppins"/>
                <a:sym typeface="Poppins"/>
              </a:rPr>
              <a:t>Bash</a:t>
            </a:r>
            <a:endParaRPr b="1" sz="800">
              <a:solidFill>
                <a:schemeClr val="dk2"/>
              </a:solidFill>
              <a:latin typeface="Poppins"/>
              <a:ea typeface="Poppins"/>
              <a:cs typeface="Poppins"/>
              <a:sym typeface="Poppins"/>
            </a:endParaRPr>
          </a:p>
          <a:p>
            <a:pPr indent="0" lvl="0" marL="0" rtl="0" algn="l">
              <a:spcBef>
                <a:spcPts val="0"/>
              </a:spcBef>
              <a:spcAft>
                <a:spcPts val="0"/>
              </a:spcAft>
              <a:buNone/>
            </a:pPr>
            <a:r>
              <a:rPr b="1" lang="es" sz="800">
                <a:solidFill>
                  <a:schemeClr val="dk2"/>
                </a:solidFill>
                <a:latin typeface="Poppins"/>
                <a:ea typeface="Poppins"/>
                <a:cs typeface="Poppins"/>
                <a:sym typeface="Poppins"/>
              </a:rPr>
              <a:t>Linux</a:t>
            </a:r>
            <a:endParaRPr b="1" sz="800">
              <a:solidFill>
                <a:schemeClr val="dk2"/>
              </a:solidFill>
              <a:latin typeface="Poppins"/>
              <a:ea typeface="Poppins"/>
              <a:cs typeface="Poppins"/>
              <a:sym typeface="Poppins"/>
            </a:endParaRPr>
          </a:p>
        </p:txBody>
      </p:sp>
      <p:pic>
        <p:nvPicPr>
          <p:cNvPr id="151" name="Google Shape;151;p19"/>
          <p:cNvPicPr preferRelativeResize="0"/>
          <p:nvPr/>
        </p:nvPicPr>
        <p:blipFill>
          <a:blip r:embed="rId8">
            <a:alphaModFix/>
          </a:blip>
          <a:stretch>
            <a:fillRect/>
          </a:stretch>
        </p:blipFill>
        <p:spPr>
          <a:xfrm>
            <a:off x="204425" y="4610975"/>
            <a:ext cx="401850" cy="401850"/>
          </a:xfrm>
          <a:prstGeom prst="rect">
            <a:avLst/>
          </a:prstGeom>
          <a:noFill/>
          <a:ln>
            <a:noFill/>
          </a:ln>
        </p:spPr>
      </p:pic>
      <p:sp>
        <p:nvSpPr>
          <p:cNvPr id="152" name="Google Shape;152;p19"/>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0"/>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58" name="Google Shape;158;p20"/>
          <p:cNvSpPr txBox="1"/>
          <p:nvPr>
            <p:ph type="title"/>
          </p:nvPr>
        </p:nvSpPr>
        <p:spPr>
          <a:xfrm>
            <a:off x="355525" y="642250"/>
            <a:ext cx="3707100" cy="294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sz="2800"/>
              <a:t>Identificación de conocimientos nuevos que quieras reforzar durante el proyecto</a:t>
            </a:r>
            <a:endParaRPr b="1" sz="2800">
              <a:solidFill>
                <a:schemeClr val="accent1"/>
              </a:solidFill>
            </a:endParaRPr>
          </a:p>
        </p:txBody>
      </p:sp>
      <p:sp>
        <p:nvSpPr>
          <p:cNvPr id="159" name="Google Shape;159;p20"/>
          <p:cNvSpPr txBox="1"/>
          <p:nvPr/>
        </p:nvSpPr>
        <p:spPr>
          <a:xfrm>
            <a:off x="4062625" y="642250"/>
            <a:ext cx="4401600" cy="2002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a:solidFill>
                  <a:schemeClr val="dk2"/>
                </a:solidFill>
                <a:latin typeface="Poppins"/>
                <a:ea typeface="Poppins"/>
                <a:cs typeface="Poppins"/>
                <a:sym typeface="Poppins"/>
              </a:rPr>
              <a:t>Reflexionen sobre los siguientes puntos:</a:t>
            </a:r>
            <a:endParaRPr>
              <a:solidFill>
                <a:schemeClr val="dk2"/>
              </a:solidFill>
              <a:latin typeface="Poppins"/>
              <a:ea typeface="Poppins"/>
              <a:cs typeface="Poppins"/>
              <a:sym typeface="Poppins"/>
            </a:endParaRPr>
          </a:p>
          <a:p>
            <a:pPr indent="0" lvl="0" marL="0" rtl="0" algn="l">
              <a:spcBef>
                <a:spcPts val="0"/>
              </a:spcBef>
              <a:spcAft>
                <a:spcPts val="0"/>
              </a:spcAft>
              <a:buNone/>
            </a:pPr>
            <a:r>
              <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¿En qué tecnologías no tienes experiencia previa o solo has tomado cursos?</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¿Qué conocimiento crees que aún no has implementado de una manera recurrente?</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¿Qué conceptos nuevos te apasionan y con los cuales quieres experimentar?</a:t>
            </a:r>
            <a:endParaRPr sz="1200">
              <a:solidFill>
                <a:schemeClr val="dk2"/>
              </a:solidFill>
              <a:latin typeface="Poppins"/>
              <a:ea typeface="Poppins"/>
              <a:cs typeface="Poppins"/>
              <a:sym typeface="Poppins"/>
            </a:endParaRPr>
          </a:p>
        </p:txBody>
      </p:sp>
      <p:pic>
        <p:nvPicPr>
          <p:cNvPr id="160" name="Google Shape;160;p20"/>
          <p:cNvPicPr preferRelativeResize="0"/>
          <p:nvPr/>
        </p:nvPicPr>
        <p:blipFill>
          <a:blip r:embed="rId3">
            <a:alphaModFix/>
          </a:blip>
          <a:stretch>
            <a:fillRect/>
          </a:stretch>
        </p:blipFill>
        <p:spPr>
          <a:xfrm>
            <a:off x="6626854" y="3263814"/>
            <a:ext cx="616200" cy="312300"/>
          </a:xfrm>
          <a:prstGeom prst="roundRect">
            <a:avLst>
              <a:gd fmla="val 16667" name="adj"/>
            </a:avLst>
          </a:prstGeom>
          <a:noFill/>
          <a:ln cap="flat" cmpd="sng" w="9525">
            <a:solidFill>
              <a:srgbClr val="595959"/>
            </a:solidFill>
            <a:prstDash val="solid"/>
            <a:round/>
            <a:headEnd len="sm" w="sm" type="none"/>
            <a:tailEnd len="sm" w="sm" type="none"/>
          </a:ln>
        </p:spPr>
      </p:pic>
      <p:pic>
        <p:nvPicPr>
          <p:cNvPr id="161" name="Google Shape;161;p20"/>
          <p:cNvPicPr preferRelativeResize="0"/>
          <p:nvPr/>
        </p:nvPicPr>
        <p:blipFill rotWithShape="1">
          <a:blip r:embed="rId4">
            <a:alphaModFix/>
          </a:blip>
          <a:srcRect b="19329" l="6655" r="6114" t="20549"/>
          <a:stretch/>
        </p:blipFill>
        <p:spPr>
          <a:xfrm>
            <a:off x="5048111" y="2841100"/>
            <a:ext cx="883500" cy="312300"/>
          </a:xfrm>
          <a:prstGeom prst="roundRect">
            <a:avLst>
              <a:gd fmla="val 16667" name="adj"/>
            </a:avLst>
          </a:prstGeom>
          <a:noFill/>
          <a:ln cap="flat" cmpd="sng" w="9525">
            <a:solidFill>
              <a:srgbClr val="595959"/>
            </a:solidFill>
            <a:prstDash val="solid"/>
            <a:round/>
            <a:headEnd len="sm" w="sm" type="none"/>
            <a:tailEnd len="sm" w="sm" type="none"/>
          </a:ln>
        </p:spPr>
      </p:pic>
      <p:pic>
        <p:nvPicPr>
          <p:cNvPr id="162" name="Google Shape;162;p20"/>
          <p:cNvPicPr preferRelativeResize="0"/>
          <p:nvPr/>
        </p:nvPicPr>
        <p:blipFill rotWithShape="1">
          <a:blip r:embed="rId5">
            <a:alphaModFix/>
          </a:blip>
          <a:srcRect b="17894" l="10629" r="9746" t="17804"/>
          <a:stretch/>
        </p:blipFill>
        <p:spPr>
          <a:xfrm>
            <a:off x="4123745" y="2841110"/>
            <a:ext cx="755100" cy="312300"/>
          </a:xfrm>
          <a:prstGeom prst="roundRect">
            <a:avLst>
              <a:gd fmla="val 16667" name="adj"/>
            </a:avLst>
          </a:prstGeom>
          <a:noFill/>
          <a:ln cap="flat" cmpd="sng" w="9525">
            <a:solidFill>
              <a:srgbClr val="595959"/>
            </a:solidFill>
            <a:prstDash val="solid"/>
            <a:round/>
            <a:headEnd len="sm" w="sm" type="none"/>
            <a:tailEnd len="sm" w="sm" type="none"/>
          </a:ln>
        </p:spPr>
      </p:pic>
      <p:pic>
        <p:nvPicPr>
          <p:cNvPr id="163" name="Google Shape;163;p20"/>
          <p:cNvPicPr preferRelativeResize="0"/>
          <p:nvPr/>
        </p:nvPicPr>
        <p:blipFill rotWithShape="1">
          <a:blip r:embed="rId6">
            <a:alphaModFix/>
          </a:blip>
          <a:srcRect b="29154" l="0" r="0" t="28745"/>
          <a:stretch/>
        </p:blipFill>
        <p:spPr>
          <a:xfrm>
            <a:off x="4123751" y="3271935"/>
            <a:ext cx="1350300" cy="312300"/>
          </a:xfrm>
          <a:prstGeom prst="roundRect">
            <a:avLst>
              <a:gd fmla="val 16667" name="adj"/>
            </a:avLst>
          </a:prstGeom>
          <a:noFill/>
          <a:ln cap="flat" cmpd="sng" w="9525">
            <a:solidFill>
              <a:srgbClr val="595959"/>
            </a:solidFill>
            <a:prstDash val="solid"/>
            <a:round/>
            <a:headEnd len="sm" w="sm" type="none"/>
            <a:tailEnd len="sm" w="sm" type="none"/>
          </a:ln>
        </p:spPr>
      </p:pic>
      <p:pic>
        <p:nvPicPr>
          <p:cNvPr id="164" name="Google Shape;164;p20"/>
          <p:cNvPicPr preferRelativeResize="0"/>
          <p:nvPr/>
        </p:nvPicPr>
        <p:blipFill rotWithShape="1">
          <a:blip r:embed="rId7">
            <a:alphaModFix/>
          </a:blip>
          <a:srcRect b="21498" l="16195" r="19968" t="20864"/>
          <a:stretch/>
        </p:blipFill>
        <p:spPr>
          <a:xfrm>
            <a:off x="7565204" y="2841100"/>
            <a:ext cx="472500" cy="312300"/>
          </a:xfrm>
          <a:prstGeom prst="roundRect">
            <a:avLst>
              <a:gd fmla="val 16667" name="adj"/>
            </a:avLst>
          </a:prstGeom>
          <a:noFill/>
          <a:ln cap="flat" cmpd="sng" w="9525">
            <a:solidFill>
              <a:srgbClr val="595959"/>
            </a:solidFill>
            <a:prstDash val="solid"/>
            <a:round/>
            <a:headEnd len="sm" w="sm" type="none"/>
            <a:tailEnd len="sm" w="sm" type="none"/>
          </a:ln>
        </p:spPr>
      </p:pic>
      <p:pic>
        <p:nvPicPr>
          <p:cNvPr id="165" name="Google Shape;165;p20"/>
          <p:cNvPicPr preferRelativeResize="0"/>
          <p:nvPr/>
        </p:nvPicPr>
        <p:blipFill rotWithShape="1">
          <a:blip r:embed="rId8">
            <a:alphaModFix/>
          </a:blip>
          <a:srcRect b="21271" l="0" r="0" t="14695"/>
          <a:stretch/>
        </p:blipFill>
        <p:spPr>
          <a:xfrm>
            <a:off x="6100724" y="2841104"/>
            <a:ext cx="1295400" cy="312300"/>
          </a:xfrm>
          <a:prstGeom prst="roundRect">
            <a:avLst>
              <a:gd fmla="val 16667" name="adj"/>
            </a:avLst>
          </a:prstGeom>
          <a:noFill/>
          <a:ln cap="flat" cmpd="sng" w="9525">
            <a:solidFill>
              <a:srgbClr val="595959"/>
            </a:solidFill>
            <a:prstDash val="solid"/>
            <a:round/>
            <a:headEnd len="sm" w="sm" type="none"/>
            <a:tailEnd len="sm" w="sm" type="none"/>
          </a:ln>
        </p:spPr>
      </p:pic>
      <p:pic>
        <p:nvPicPr>
          <p:cNvPr id="166" name="Google Shape;166;p20"/>
          <p:cNvPicPr preferRelativeResize="0"/>
          <p:nvPr/>
        </p:nvPicPr>
        <p:blipFill rotWithShape="1">
          <a:blip r:embed="rId9">
            <a:alphaModFix/>
          </a:blip>
          <a:srcRect b="18787" l="9288" r="6352" t="21681"/>
          <a:stretch/>
        </p:blipFill>
        <p:spPr>
          <a:xfrm>
            <a:off x="5597010" y="3263818"/>
            <a:ext cx="906900" cy="312300"/>
          </a:xfrm>
          <a:prstGeom prst="roundRect">
            <a:avLst>
              <a:gd fmla="val 16667" name="adj"/>
            </a:avLst>
          </a:prstGeom>
          <a:noFill/>
          <a:ln cap="flat" cmpd="sng" w="9525">
            <a:solidFill>
              <a:srgbClr val="595959"/>
            </a:solidFill>
            <a:prstDash val="solid"/>
            <a:round/>
            <a:headEnd len="sm" w="sm" type="none"/>
            <a:tailEnd len="sm" w="sm" type="none"/>
          </a:ln>
        </p:spPr>
      </p:pic>
      <p:pic>
        <p:nvPicPr>
          <p:cNvPr id="167" name="Google Shape;167;p20"/>
          <p:cNvPicPr preferRelativeResize="0"/>
          <p:nvPr/>
        </p:nvPicPr>
        <p:blipFill rotWithShape="1">
          <a:blip r:embed="rId10">
            <a:alphaModFix/>
          </a:blip>
          <a:srcRect b="20590" l="0" r="0" t="20342"/>
          <a:stretch/>
        </p:blipFill>
        <p:spPr>
          <a:xfrm>
            <a:off x="7366013" y="3263816"/>
            <a:ext cx="1037100" cy="312300"/>
          </a:xfrm>
          <a:prstGeom prst="roundRect">
            <a:avLst>
              <a:gd fmla="val 16667" name="adj"/>
            </a:avLst>
          </a:prstGeom>
          <a:noFill/>
          <a:ln cap="flat" cmpd="sng" w="9525">
            <a:solidFill>
              <a:srgbClr val="595959"/>
            </a:solidFill>
            <a:prstDash val="solid"/>
            <a:round/>
            <a:headEnd len="sm" w="sm" type="none"/>
            <a:tailEnd len="sm" w="sm" type="none"/>
          </a:ln>
        </p:spPr>
      </p:pic>
      <p:pic>
        <p:nvPicPr>
          <p:cNvPr id="168" name="Google Shape;168;p20"/>
          <p:cNvPicPr preferRelativeResize="0"/>
          <p:nvPr/>
        </p:nvPicPr>
        <p:blipFill>
          <a:blip r:embed="rId11">
            <a:alphaModFix/>
          </a:blip>
          <a:stretch>
            <a:fillRect/>
          </a:stretch>
        </p:blipFill>
        <p:spPr>
          <a:xfrm>
            <a:off x="204425" y="4610975"/>
            <a:ext cx="401850" cy="401850"/>
          </a:xfrm>
          <a:prstGeom prst="rect">
            <a:avLst/>
          </a:prstGeom>
          <a:noFill/>
          <a:ln>
            <a:noFill/>
          </a:ln>
        </p:spPr>
      </p:pic>
      <p:sp>
        <p:nvSpPr>
          <p:cNvPr id="169" name="Google Shape;169;p20"/>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2"/>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180" name="Google Shape;180;p22"/>
          <p:cNvSpPr txBox="1"/>
          <p:nvPr>
            <p:ph type="title"/>
          </p:nvPr>
        </p:nvSpPr>
        <p:spPr>
          <a:xfrm>
            <a:off x="5661075" y="534450"/>
            <a:ext cx="3243300" cy="291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sz="3000"/>
              <a:t>Estructura de un Proyecto de Ingeniería de Datos</a:t>
            </a:r>
            <a:endParaRPr b="1" sz="3000"/>
          </a:p>
        </p:txBody>
      </p:sp>
      <p:sp>
        <p:nvSpPr>
          <p:cNvPr id="181" name="Google Shape;181;p22"/>
          <p:cNvSpPr/>
          <p:nvPr/>
        </p:nvSpPr>
        <p:spPr>
          <a:xfrm>
            <a:off x="4212663" y="444525"/>
            <a:ext cx="1221900" cy="3007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solidFill>
                  <a:schemeClr val="dk1"/>
                </a:solidFill>
                <a:latin typeface="Poppins"/>
                <a:ea typeface="Poppins"/>
                <a:cs typeface="Poppins"/>
                <a:sym typeface="Poppins"/>
              </a:rPr>
              <a:t>Service</a:t>
            </a:r>
            <a:endParaRPr b="1" sz="1000">
              <a:solidFill>
                <a:schemeClr val="dk1"/>
              </a:solidFill>
              <a:latin typeface="Poppins"/>
              <a:ea typeface="Poppins"/>
              <a:cs typeface="Poppins"/>
              <a:sym typeface="Poppins"/>
            </a:endParaRPr>
          </a:p>
        </p:txBody>
      </p:sp>
      <p:sp>
        <p:nvSpPr>
          <p:cNvPr id="182" name="Google Shape;182;p22"/>
          <p:cNvSpPr/>
          <p:nvPr/>
        </p:nvSpPr>
        <p:spPr>
          <a:xfrm>
            <a:off x="3293138" y="471425"/>
            <a:ext cx="851400" cy="2980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latin typeface="Poppins"/>
                <a:ea typeface="Poppins"/>
                <a:cs typeface="Poppins"/>
                <a:sym typeface="Poppins"/>
              </a:rPr>
              <a:t>Load</a:t>
            </a:r>
            <a:endParaRPr b="1" sz="1000">
              <a:latin typeface="Poppins"/>
              <a:ea typeface="Poppins"/>
              <a:cs typeface="Poppins"/>
              <a:sym typeface="Poppins"/>
            </a:endParaRPr>
          </a:p>
        </p:txBody>
      </p:sp>
      <p:sp>
        <p:nvSpPr>
          <p:cNvPr id="183" name="Google Shape;183;p22"/>
          <p:cNvSpPr/>
          <p:nvPr/>
        </p:nvSpPr>
        <p:spPr>
          <a:xfrm>
            <a:off x="1888813" y="444525"/>
            <a:ext cx="1336200" cy="3007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latin typeface="Poppins"/>
                <a:ea typeface="Poppins"/>
                <a:cs typeface="Poppins"/>
                <a:sym typeface="Poppins"/>
              </a:rPr>
              <a:t>Transform</a:t>
            </a:r>
            <a:endParaRPr b="1" sz="1000">
              <a:latin typeface="Poppins"/>
              <a:ea typeface="Poppins"/>
              <a:cs typeface="Poppins"/>
              <a:sym typeface="Poppins"/>
            </a:endParaRPr>
          </a:p>
        </p:txBody>
      </p:sp>
      <p:sp>
        <p:nvSpPr>
          <p:cNvPr id="184" name="Google Shape;184;p22"/>
          <p:cNvSpPr/>
          <p:nvPr/>
        </p:nvSpPr>
        <p:spPr>
          <a:xfrm>
            <a:off x="484488" y="444525"/>
            <a:ext cx="1336200" cy="30075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s" sz="1000">
                <a:solidFill>
                  <a:schemeClr val="dk1"/>
                </a:solidFill>
                <a:latin typeface="Poppins"/>
                <a:ea typeface="Poppins"/>
                <a:cs typeface="Poppins"/>
                <a:sym typeface="Poppins"/>
              </a:rPr>
              <a:t>Extract</a:t>
            </a:r>
            <a:endParaRPr b="1" sz="1000">
              <a:solidFill>
                <a:schemeClr val="dk1"/>
              </a:solidFill>
              <a:latin typeface="Poppins"/>
              <a:ea typeface="Poppins"/>
              <a:cs typeface="Poppins"/>
              <a:sym typeface="Poppins"/>
            </a:endParaRPr>
          </a:p>
        </p:txBody>
      </p:sp>
      <p:pic>
        <p:nvPicPr>
          <p:cNvPr id="185" name="Google Shape;185;p22"/>
          <p:cNvPicPr preferRelativeResize="0"/>
          <p:nvPr/>
        </p:nvPicPr>
        <p:blipFill>
          <a:blip r:embed="rId3">
            <a:alphaModFix/>
          </a:blip>
          <a:stretch>
            <a:fillRect/>
          </a:stretch>
        </p:blipFill>
        <p:spPr>
          <a:xfrm>
            <a:off x="881247" y="785394"/>
            <a:ext cx="355569" cy="335674"/>
          </a:xfrm>
          <a:prstGeom prst="rect">
            <a:avLst/>
          </a:prstGeom>
          <a:noFill/>
          <a:ln>
            <a:noFill/>
          </a:ln>
        </p:spPr>
      </p:pic>
      <p:pic>
        <p:nvPicPr>
          <p:cNvPr id="186" name="Google Shape;186;p22"/>
          <p:cNvPicPr preferRelativeResize="0"/>
          <p:nvPr/>
        </p:nvPicPr>
        <p:blipFill>
          <a:blip r:embed="rId4">
            <a:alphaModFix/>
          </a:blip>
          <a:stretch>
            <a:fillRect/>
          </a:stretch>
        </p:blipFill>
        <p:spPr>
          <a:xfrm>
            <a:off x="714977" y="1415343"/>
            <a:ext cx="688096" cy="649595"/>
          </a:xfrm>
          <a:prstGeom prst="rect">
            <a:avLst/>
          </a:prstGeom>
          <a:noFill/>
          <a:ln>
            <a:noFill/>
          </a:ln>
        </p:spPr>
      </p:pic>
      <p:pic>
        <p:nvPicPr>
          <p:cNvPr id="187" name="Google Shape;187;p22"/>
          <p:cNvPicPr preferRelativeResize="0"/>
          <p:nvPr/>
        </p:nvPicPr>
        <p:blipFill>
          <a:blip r:embed="rId5">
            <a:alphaModFix/>
          </a:blip>
          <a:stretch>
            <a:fillRect/>
          </a:stretch>
        </p:blipFill>
        <p:spPr>
          <a:xfrm>
            <a:off x="3428923" y="1855884"/>
            <a:ext cx="557258" cy="526053"/>
          </a:xfrm>
          <a:prstGeom prst="rect">
            <a:avLst/>
          </a:prstGeom>
          <a:noFill/>
          <a:ln>
            <a:noFill/>
          </a:ln>
        </p:spPr>
      </p:pic>
      <p:pic>
        <p:nvPicPr>
          <p:cNvPr id="188" name="Google Shape;188;p22"/>
          <p:cNvPicPr preferRelativeResize="0"/>
          <p:nvPr/>
        </p:nvPicPr>
        <p:blipFill>
          <a:blip r:embed="rId6">
            <a:alphaModFix/>
          </a:blip>
          <a:stretch>
            <a:fillRect/>
          </a:stretch>
        </p:blipFill>
        <p:spPr>
          <a:xfrm>
            <a:off x="2278276" y="1856172"/>
            <a:ext cx="557265" cy="526068"/>
          </a:xfrm>
          <a:prstGeom prst="rect">
            <a:avLst/>
          </a:prstGeom>
          <a:noFill/>
          <a:ln>
            <a:noFill/>
          </a:ln>
        </p:spPr>
      </p:pic>
      <p:pic>
        <p:nvPicPr>
          <p:cNvPr id="189" name="Google Shape;189;p22"/>
          <p:cNvPicPr preferRelativeResize="0"/>
          <p:nvPr/>
        </p:nvPicPr>
        <p:blipFill>
          <a:blip r:embed="rId7">
            <a:alphaModFix/>
          </a:blip>
          <a:stretch>
            <a:fillRect/>
          </a:stretch>
        </p:blipFill>
        <p:spPr>
          <a:xfrm>
            <a:off x="4367137" y="1673879"/>
            <a:ext cx="943334" cy="890547"/>
          </a:xfrm>
          <a:prstGeom prst="rect">
            <a:avLst/>
          </a:prstGeom>
          <a:noFill/>
          <a:ln>
            <a:noFill/>
          </a:ln>
        </p:spPr>
      </p:pic>
      <p:cxnSp>
        <p:nvCxnSpPr>
          <p:cNvPr id="190" name="Google Shape;190;p22"/>
          <p:cNvCxnSpPr>
            <a:stCxn id="185" idx="2"/>
            <a:endCxn id="186" idx="0"/>
          </p:cNvCxnSpPr>
          <p:nvPr/>
        </p:nvCxnSpPr>
        <p:spPr>
          <a:xfrm>
            <a:off x="1059031" y="1121067"/>
            <a:ext cx="0" cy="294300"/>
          </a:xfrm>
          <a:prstGeom prst="straightConnector1">
            <a:avLst/>
          </a:prstGeom>
          <a:noFill/>
          <a:ln cap="flat" cmpd="sng" w="9525">
            <a:solidFill>
              <a:srgbClr val="000000"/>
            </a:solidFill>
            <a:prstDash val="solid"/>
            <a:round/>
            <a:headEnd len="med" w="med" type="triangle"/>
            <a:tailEnd len="med" w="med" type="triangle"/>
          </a:ln>
        </p:spPr>
      </p:cxnSp>
      <p:cxnSp>
        <p:nvCxnSpPr>
          <p:cNvPr id="191" name="Google Shape;191;p22"/>
          <p:cNvCxnSpPr>
            <a:stCxn id="188" idx="3"/>
            <a:endCxn id="187" idx="1"/>
          </p:cNvCxnSpPr>
          <p:nvPr/>
        </p:nvCxnSpPr>
        <p:spPr>
          <a:xfrm flipH="1" rot="10800000">
            <a:off x="2835541" y="2118906"/>
            <a:ext cx="593400" cy="300"/>
          </a:xfrm>
          <a:prstGeom prst="straightConnector1">
            <a:avLst/>
          </a:prstGeom>
          <a:noFill/>
          <a:ln cap="flat" cmpd="sng" w="19050">
            <a:solidFill>
              <a:srgbClr val="000000"/>
            </a:solidFill>
            <a:prstDash val="solid"/>
            <a:round/>
            <a:headEnd len="med" w="med" type="none"/>
            <a:tailEnd len="med" w="med" type="triangle"/>
          </a:ln>
        </p:spPr>
      </p:cxnSp>
      <p:pic>
        <p:nvPicPr>
          <p:cNvPr id="192" name="Google Shape;192;p22"/>
          <p:cNvPicPr preferRelativeResize="0"/>
          <p:nvPr/>
        </p:nvPicPr>
        <p:blipFill>
          <a:blip r:embed="rId3">
            <a:alphaModFix/>
          </a:blip>
          <a:stretch>
            <a:fillRect/>
          </a:stretch>
        </p:blipFill>
        <p:spPr>
          <a:xfrm>
            <a:off x="871819" y="2676431"/>
            <a:ext cx="355569" cy="335674"/>
          </a:xfrm>
          <a:prstGeom prst="rect">
            <a:avLst/>
          </a:prstGeom>
          <a:noFill/>
          <a:ln>
            <a:noFill/>
          </a:ln>
        </p:spPr>
      </p:pic>
      <p:pic>
        <p:nvPicPr>
          <p:cNvPr id="193" name="Google Shape;193;p22"/>
          <p:cNvPicPr preferRelativeResize="0"/>
          <p:nvPr/>
        </p:nvPicPr>
        <p:blipFill>
          <a:blip r:embed="rId5">
            <a:alphaModFix/>
          </a:blip>
          <a:stretch>
            <a:fillRect/>
          </a:stretch>
        </p:blipFill>
        <p:spPr>
          <a:xfrm>
            <a:off x="871822" y="2175940"/>
            <a:ext cx="355569" cy="335674"/>
          </a:xfrm>
          <a:prstGeom prst="rect">
            <a:avLst/>
          </a:prstGeom>
          <a:noFill/>
          <a:ln>
            <a:noFill/>
          </a:ln>
        </p:spPr>
      </p:pic>
      <p:cxnSp>
        <p:nvCxnSpPr>
          <p:cNvPr id="194" name="Google Shape;194;p22"/>
          <p:cNvCxnSpPr>
            <a:stCxn id="186" idx="3"/>
            <a:endCxn id="188" idx="1"/>
          </p:cNvCxnSpPr>
          <p:nvPr/>
        </p:nvCxnSpPr>
        <p:spPr>
          <a:xfrm>
            <a:off x="1403073" y="1740140"/>
            <a:ext cx="875100" cy="379200"/>
          </a:xfrm>
          <a:prstGeom prst="bentConnector3">
            <a:avLst>
              <a:gd fmla="val 50006" name="adj1"/>
            </a:avLst>
          </a:prstGeom>
          <a:noFill/>
          <a:ln cap="flat" cmpd="sng" w="19050">
            <a:solidFill>
              <a:srgbClr val="000000"/>
            </a:solidFill>
            <a:prstDash val="solid"/>
            <a:round/>
            <a:headEnd len="med" w="med" type="none"/>
            <a:tailEnd len="med" w="med" type="triangle"/>
          </a:ln>
        </p:spPr>
      </p:cxnSp>
      <p:cxnSp>
        <p:nvCxnSpPr>
          <p:cNvPr id="195" name="Google Shape;195;p22"/>
          <p:cNvCxnSpPr>
            <a:stCxn id="193" idx="3"/>
            <a:endCxn id="188" idx="1"/>
          </p:cNvCxnSpPr>
          <p:nvPr/>
        </p:nvCxnSpPr>
        <p:spPr>
          <a:xfrm flipH="1" rot="10800000">
            <a:off x="1227390" y="2119077"/>
            <a:ext cx="1050900" cy="224700"/>
          </a:xfrm>
          <a:prstGeom prst="bentConnector3">
            <a:avLst>
              <a:gd fmla="val 49999" name="adj1"/>
            </a:avLst>
          </a:prstGeom>
          <a:noFill/>
          <a:ln cap="flat" cmpd="sng" w="19050">
            <a:solidFill>
              <a:srgbClr val="000000"/>
            </a:solidFill>
            <a:prstDash val="solid"/>
            <a:round/>
            <a:headEnd len="med" w="med" type="none"/>
            <a:tailEnd len="med" w="med" type="triangle"/>
          </a:ln>
        </p:spPr>
      </p:cxnSp>
      <p:cxnSp>
        <p:nvCxnSpPr>
          <p:cNvPr id="196" name="Google Shape;196;p22"/>
          <p:cNvCxnSpPr>
            <a:stCxn id="192" idx="3"/>
            <a:endCxn id="188" idx="1"/>
          </p:cNvCxnSpPr>
          <p:nvPr/>
        </p:nvCxnSpPr>
        <p:spPr>
          <a:xfrm flipH="1" rot="10800000">
            <a:off x="1227388" y="2119168"/>
            <a:ext cx="1050900" cy="725100"/>
          </a:xfrm>
          <a:prstGeom prst="bentConnector3">
            <a:avLst>
              <a:gd fmla="val 49999" name="adj1"/>
            </a:avLst>
          </a:prstGeom>
          <a:noFill/>
          <a:ln cap="flat" cmpd="sng" w="19050">
            <a:solidFill>
              <a:srgbClr val="000000"/>
            </a:solidFill>
            <a:prstDash val="solid"/>
            <a:round/>
            <a:headEnd len="med" w="med" type="none"/>
            <a:tailEnd len="med" w="med" type="triangle"/>
          </a:ln>
        </p:spPr>
      </p:cxnSp>
      <p:cxnSp>
        <p:nvCxnSpPr>
          <p:cNvPr id="197" name="Google Shape;197;p22"/>
          <p:cNvCxnSpPr>
            <a:stCxn id="187" idx="3"/>
            <a:endCxn id="189" idx="1"/>
          </p:cNvCxnSpPr>
          <p:nvPr/>
        </p:nvCxnSpPr>
        <p:spPr>
          <a:xfrm>
            <a:off x="3986181" y="2118910"/>
            <a:ext cx="381000" cy="600"/>
          </a:xfrm>
          <a:prstGeom prst="bentConnector3">
            <a:avLst>
              <a:gd fmla="val 49994" name="adj1"/>
            </a:avLst>
          </a:prstGeom>
          <a:noFill/>
          <a:ln cap="flat" cmpd="sng" w="19050">
            <a:solidFill>
              <a:srgbClr val="000000"/>
            </a:solidFill>
            <a:prstDash val="solid"/>
            <a:round/>
            <a:headEnd len="med" w="med" type="none"/>
            <a:tailEnd len="med" w="med" type="triangle"/>
          </a:ln>
        </p:spPr>
      </p:cxnSp>
      <p:pic>
        <p:nvPicPr>
          <p:cNvPr id="198" name="Google Shape;198;p22"/>
          <p:cNvPicPr preferRelativeResize="0"/>
          <p:nvPr/>
        </p:nvPicPr>
        <p:blipFill>
          <a:blip r:embed="rId8">
            <a:alphaModFix/>
          </a:blip>
          <a:stretch>
            <a:fillRect/>
          </a:stretch>
        </p:blipFill>
        <p:spPr>
          <a:xfrm>
            <a:off x="5119363" y="330075"/>
            <a:ext cx="401850" cy="401850"/>
          </a:xfrm>
          <a:prstGeom prst="rect">
            <a:avLst/>
          </a:prstGeom>
          <a:noFill/>
          <a:ln>
            <a:noFill/>
          </a:ln>
        </p:spPr>
      </p:pic>
      <p:pic>
        <p:nvPicPr>
          <p:cNvPr id="199" name="Google Shape;199;p22"/>
          <p:cNvPicPr preferRelativeResize="0"/>
          <p:nvPr/>
        </p:nvPicPr>
        <p:blipFill>
          <a:blip r:embed="rId8">
            <a:alphaModFix/>
          </a:blip>
          <a:stretch>
            <a:fillRect/>
          </a:stretch>
        </p:blipFill>
        <p:spPr>
          <a:xfrm>
            <a:off x="204425" y="4610975"/>
            <a:ext cx="401850" cy="401850"/>
          </a:xfrm>
          <a:prstGeom prst="rect">
            <a:avLst/>
          </a:prstGeom>
          <a:noFill/>
          <a:ln>
            <a:noFill/>
          </a:ln>
        </p:spPr>
      </p:pic>
      <p:sp>
        <p:nvSpPr>
          <p:cNvPr id="200" name="Google Shape;200;p22"/>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3"/>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06" name="Google Shape;206;p23"/>
          <p:cNvSpPr txBox="1"/>
          <p:nvPr>
            <p:ph type="title"/>
          </p:nvPr>
        </p:nvSpPr>
        <p:spPr>
          <a:xfrm>
            <a:off x="544525" y="642250"/>
            <a:ext cx="4163400" cy="271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sz="3000"/>
              <a:t>Características de un proyecto de ingeniería de datos exitoso</a:t>
            </a:r>
            <a:endParaRPr b="1" sz="3000"/>
          </a:p>
        </p:txBody>
      </p:sp>
      <p:sp>
        <p:nvSpPr>
          <p:cNvPr id="207" name="Google Shape;207;p23"/>
          <p:cNvSpPr txBox="1"/>
          <p:nvPr/>
        </p:nvSpPr>
        <p:spPr>
          <a:xfrm>
            <a:off x="4784700" y="642250"/>
            <a:ext cx="3963600" cy="2673000"/>
          </a:xfrm>
          <a:prstGeom prst="rect">
            <a:avLst/>
          </a:prstGeom>
          <a:noFill/>
          <a:ln>
            <a:noFill/>
          </a:ln>
        </p:spPr>
        <p:txBody>
          <a:bodyPr anchorCtr="0" anchor="ctr" bIns="91425" lIns="91425" spcFirstLastPara="1" rIns="91425" wrap="square" tIns="91425">
            <a:noAutofit/>
          </a:bodyPr>
          <a:lstStyle/>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Integración de conocimientos</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Claridad y Justificación</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Diseño de la Solución</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Desarrollo Técnico</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Comunicación de Resultados</a:t>
            </a:r>
            <a:endParaRPr sz="1200">
              <a:solidFill>
                <a:schemeClr val="dk2"/>
              </a:solidFill>
              <a:latin typeface="Poppins"/>
              <a:ea typeface="Poppins"/>
              <a:cs typeface="Poppins"/>
              <a:sym typeface="Poppins"/>
            </a:endParaRPr>
          </a:p>
        </p:txBody>
      </p:sp>
      <p:pic>
        <p:nvPicPr>
          <p:cNvPr id="208" name="Google Shape;208;p23"/>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209" name="Google Shape;209;p23"/>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4"/>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5"/>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20" name="Google Shape;220;p25"/>
          <p:cNvSpPr/>
          <p:nvPr/>
        </p:nvSpPr>
        <p:spPr>
          <a:xfrm>
            <a:off x="376963" y="3672446"/>
            <a:ext cx="4977600" cy="7491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000">
              <a:solidFill>
                <a:schemeClr val="dk1"/>
              </a:solidFill>
              <a:latin typeface="Poppins"/>
              <a:ea typeface="Poppins"/>
              <a:cs typeface="Poppins"/>
              <a:sym typeface="Poppins"/>
            </a:endParaRPr>
          </a:p>
        </p:txBody>
      </p:sp>
      <p:sp>
        <p:nvSpPr>
          <p:cNvPr id="221" name="Google Shape;221;p25"/>
          <p:cNvSpPr/>
          <p:nvPr/>
        </p:nvSpPr>
        <p:spPr>
          <a:xfrm>
            <a:off x="4105125" y="282790"/>
            <a:ext cx="1221900" cy="28686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solidFill>
                  <a:schemeClr val="dk1"/>
                </a:solidFill>
                <a:latin typeface="Poppins"/>
                <a:ea typeface="Poppins"/>
                <a:cs typeface="Poppins"/>
                <a:sym typeface="Poppins"/>
              </a:rPr>
              <a:t>Service</a:t>
            </a:r>
            <a:endParaRPr b="1" sz="1000">
              <a:solidFill>
                <a:schemeClr val="dk1"/>
              </a:solidFill>
              <a:latin typeface="Poppins"/>
              <a:ea typeface="Poppins"/>
              <a:cs typeface="Poppins"/>
              <a:sym typeface="Poppins"/>
            </a:endParaRPr>
          </a:p>
        </p:txBody>
      </p:sp>
      <p:sp>
        <p:nvSpPr>
          <p:cNvPr id="222" name="Google Shape;222;p25"/>
          <p:cNvSpPr/>
          <p:nvPr/>
        </p:nvSpPr>
        <p:spPr>
          <a:xfrm>
            <a:off x="3185600" y="308447"/>
            <a:ext cx="851400" cy="28431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latin typeface="Poppins"/>
                <a:ea typeface="Poppins"/>
                <a:cs typeface="Poppins"/>
                <a:sym typeface="Poppins"/>
              </a:rPr>
              <a:t>Load</a:t>
            </a:r>
            <a:endParaRPr b="1" sz="1000">
              <a:latin typeface="Poppins"/>
              <a:ea typeface="Poppins"/>
              <a:cs typeface="Poppins"/>
              <a:sym typeface="Poppins"/>
            </a:endParaRPr>
          </a:p>
        </p:txBody>
      </p:sp>
      <p:sp>
        <p:nvSpPr>
          <p:cNvPr id="223" name="Google Shape;223;p25"/>
          <p:cNvSpPr/>
          <p:nvPr/>
        </p:nvSpPr>
        <p:spPr>
          <a:xfrm>
            <a:off x="1781275" y="282790"/>
            <a:ext cx="1336200" cy="28686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None/>
            </a:pPr>
            <a:r>
              <a:rPr b="1" lang="es" sz="1000">
                <a:latin typeface="Poppins"/>
                <a:ea typeface="Poppins"/>
                <a:cs typeface="Poppins"/>
                <a:sym typeface="Poppins"/>
              </a:rPr>
              <a:t>Transform</a:t>
            </a:r>
            <a:endParaRPr b="1" sz="1000">
              <a:latin typeface="Poppins"/>
              <a:ea typeface="Poppins"/>
              <a:cs typeface="Poppins"/>
              <a:sym typeface="Poppins"/>
            </a:endParaRPr>
          </a:p>
        </p:txBody>
      </p:sp>
      <p:sp>
        <p:nvSpPr>
          <p:cNvPr id="224" name="Google Shape;224;p25"/>
          <p:cNvSpPr/>
          <p:nvPr/>
        </p:nvSpPr>
        <p:spPr>
          <a:xfrm>
            <a:off x="376950" y="282790"/>
            <a:ext cx="1336200" cy="2868600"/>
          </a:xfrm>
          <a:prstGeom prst="roundRect">
            <a:avLst>
              <a:gd fmla="val 16667" name="adj"/>
            </a:avLst>
          </a:prstGeom>
          <a:solidFill>
            <a:srgbClr val="F3F3F3"/>
          </a:solid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s" sz="1000">
                <a:solidFill>
                  <a:schemeClr val="dk1"/>
                </a:solidFill>
                <a:latin typeface="Poppins"/>
                <a:ea typeface="Poppins"/>
                <a:cs typeface="Poppins"/>
                <a:sym typeface="Poppins"/>
              </a:rPr>
              <a:t>Extract</a:t>
            </a:r>
            <a:endParaRPr b="1" sz="1000">
              <a:solidFill>
                <a:schemeClr val="dk1"/>
              </a:solidFill>
              <a:latin typeface="Poppins"/>
              <a:ea typeface="Poppins"/>
              <a:cs typeface="Poppins"/>
              <a:sym typeface="Poppins"/>
            </a:endParaRPr>
          </a:p>
        </p:txBody>
      </p:sp>
      <p:pic>
        <p:nvPicPr>
          <p:cNvPr id="225" name="Google Shape;225;p25"/>
          <p:cNvPicPr preferRelativeResize="0"/>
          <p:nvPr/>
        </p:nvPicPr>
        <p:blipFill>
          <a:blip r:embed="rId3">
            <a:alphaModFix/>
          </a:blip>
          <a:stretch>
            <a:fillRect/>
          </a:stretch>
        </p:blipFill>
        <p:spPr>
          <a:xfrm>
            <a:off x="773709" y="607916"/>
            <a:ext cx="355569" cy="320172"/>
          </a:xfrm>
          <a:prstGeom prst="rect">
            <a:avLst/>
          </a:prstGeom>
          <a:noFill/>
          <a:ln>
            <a:noFill/>
          </a:ln>
        </p:spPr>
      </p:pic>
      <p:pic>
        <p:nvPicPr>
          <p:cNvPr id="226" name="Google Shape;226;p25"/>
          <p:cNvPicPr preferRelativeResize="0"/>
          <p:nvPr/>
        </p:nvPicPr>
        <p:blipFill>
          <a:blip r:embed="rId4">
            <a:alphaModFix/>
          </a:blip>
          <a:stretch>
            <a:fillRect/>
          </a:stretch>
        </p:blipFill>
        <p:spPr>
          <a:xfrm>
            <a:off x="607439" y="1208773"/>
            <a:ext cx="688096" cy="619596"/>
          </a:xfrm>
          <a:prstGeom prst="rect">
            <a:avLst/>
          </a:prstGeom>
          <a:noFill/>
          <a:ln>
            <a:noFill/>
          </a:ln>
        </p:spPr>
      </p:pic>
      <p:pic>
        <p:nvPicPr>
          <p:cNvPr id="227" name="Google Shape;227;p25"/>
          <p:cNvPicPr preferRelativeResize="0"/>
          <p:nvPr/>
        </p:nvPicPr>
        <p:blipFill>
          <a:blip r:embed="rId5">
            <a:alphaModFix/>
          </a:blip>
          <a:stretch>
            <a:fillRect/>
          </a:stretch>
        </p:blipFill>
        <p:spPr>
          <a:xfrm>
            <a:off x="3321385" y="1628969"/>
            <a:ext cx="557258" cy="501760"/>
          </a:xfrm>
          <a:prstGeom prst="rect">
            <a:avLst/>
          </a:prstGeom>
          <a:noFill/>
          <a:ln>
            <a:noFill/>
          </a:ln>
        </p:spPr>
      </p:pic>
      <p:pic>
        <p:nvPicPr>
          <p:cNvPr id="228" name="Google Shape;228;p25"/>
          <p:cNvPicPr preferRelativeResize="0"/>
          <p:nvPr/>
        </p:nvPicPr>
        <p:blipFill>
          <a:blip r:embed="rId6">
            <a:alphaModFix/>
          </a:blip>
          <a:stretch>
            <a:fillRect/>
          </a:stretch>
        </p:blipFill>
        <p:spPr>
          <a:xfrm>
            <a:off x="2170738" y="1629244"/>
            <a:ext cx="557265" cy="501773"/>
          </a:xfrm>
          <a:prstGeom prst="rect">
            <a:avLst/>
          </a:prstGeom>
          <a:noFill/>
          <a:ln>
            <a:noFill/>
          </a:ln>
        </p:spPr>
      </p:pic>
      <p:pic>
        <p:nvPicPr>
          <p:cNvPr id="229" name="Google Shape;229;p25"/>
          <p:cNvPicPr preferRelativeResize="0"/>
          <p:nvPr/>
        </p:nvPicPr>
        <p:blipFill>
          <a:blip r:embed="rId7">
            <a:alphaModFix/>
          </a:blip>
          <a:stretch>
            <a:fillRect/>
          </a:stretch>
        </p:blipFill>
        <p:spPr>
          <a:xfrm>
            <a:off x="4259599" y="1455370"/>
            <a:ext cx="943334" cy="849420"/>
          </a:xfrm>
          <a:prstGeom prst="rect">
            <a:avLst/>
          </a:prstGeom>
          <a:noFill/>
          <a:ln>
            <a:noFill/>
          </a:ln>
        </p:spPr>
      </p:pic>
      <p:cxnSp>
        <p:nvCxnSpPr>
          <p:cNvPr id="230" name="Google Shape;230;p25"/>
          <p:cNvCxnSpPr>
            <a:stCxn id="225" idx="2"/>
            <a:endCxn id="226" idx="0"/>
          </p:cNvCxnSpPr>
          <p:nvPr/>
        </p:nvCxnSpPr>
        <p:spPr>
          <a:xfrm>
            <a:off x="951494" y="928088"/>
            <a:ext cx="0" cy="280800"/>
          </a:xfrm>
          <a:prstGeom prst="straightConnector1">
            <a:avLst/>
          </a:prstGeom>
          <a:noFill/>
          <a:ln cap="flat" cmpd="sng" w="9525">
            <a:solidFill>
              <a:srgbClr val="000000"/>
            </a:solidFill>
            <a:prstDash val="solid"/>
            <a:round/>
            <a:headEnd len="med" w="med" type="triangle"/>
            <a:tailEnd len="med" w="med" type="triangle"/>
          </a:ln>
        </p:spPr>
      </p:cxnSp>
      <p:cxnSp>
        <p:nvCxnSpPr>
          <p:cNvPr id="231" name="Google Shape;231;p25"/>
          <p:cNvCxnSpPr>
            <a:stCxn id="228" idx="3"/>
            <a:endCxn id="227" idx="1"/>
          </p:cNvCxnSpPr>
          <p:nvPr/>
        </p:nvCxnSpPr>
        <p:spPr>
          <a:xfrm flipH="1" rot="10800000">
            <a:off x="2728003" y="1879830"/>
            <a:ext cx="593400" cy="300"/>
          </a:xfrm>
          <a:prstGeom prst="straightConnector1">
            <a:avLst/>
          </a:prstGeom>
          <a:noFill/>
          <a:ln cap="flat" cmpd="sng" w="19050">
            <a:solidFill>
              <a:srgbClr val="000000"/>
            </a:solidFill>
            <a:prstDash val="solid"/>
            <a:round/>
            <a:headEnd len="med" w="med" type="none"/>
            <a:tailEnd len="med" w="med" type="triangle"/>
          </a:ln>
        </p:spPr>
      </p:cxnSp>
      <p:pic>
        <p:nvPicPr>
          <p:cNvPr id="232" name="Google Shape;232;p25"/>
          <p:cNvPicPr preferRelativeResize="0"/>
          <p:nvPr/>
        </p:nvPicPr>
        <p:blipFill>
          <a:blip r:embed="rId3">
            <a:alphaModFix/>
          </a:blip>
          <a:stretch>
            <a:fillRect/>
          </a:stretch>
        </p:blipFill>
        <p:spPr>
          <a:xfrm>
            <a:off x="764282" y="2411623"/>
            <a:ext cx="355569" cy="320172"/>
          </a:xfrm>
          <a:prstGeom prst="rect">
            <a:avLst/>
          </a:prstGeom>
          <a:noFill/>
          <a:ln>
            <a:noFill/>
          </a:ln>
        </p:spPr>
      </p:pic>
      <p:pic>
        <p:nvPicPr>
          <p:cNvPr id="233" name="Google Shape;233;p25"/>
          <p:cNvPicPr preferRelativeResize="0"/>
          <p:nvPr/>
        </p:nvPicPr>
        <p:blipFill>
          <a:blip r:embed="rId5">
            <a:alphaModFix/>
          </a:blip>
          <a:stretch>
            <a:fillRect/>
          </a:stretch>
        </p:blipFill>
        <p:spPr>
          <a:xfrm>
            <a:off x="764284" y="1934245"/>
            <a:ext cx="355569" cy="320172"/>
          </a:xfrm>
          <a:prstGeom prst="rect">
            <a:avLst/>
          </a:prstGeom>
          <a:noFill/>
          <a:ln>
            <a:noFill/>
          </a:ln>
        </p:spPr>
      </p:pic>
      <p:cxnSp>
        <p:nvCxnSpPr>
          <p:cNvPr id="234" name="Google Shape;234;p25"/>
          <p:cNvCxnSpPr>
            <a:stCxn id="226" idx="3"/>
            <a:endCxn id="228" idx="1"/>
          </p:cNvCxnSpPr>
          <p:nvPr/>
        </p:nvCxnSpPr>
        <p:spPr>
          <a:xfrm>
            <a:off x="1295535" y="1518571"/>
            <a:ext cx="875100" cy="361500"/>
          </a:xfrm>
          <a:prstGeom prst="bentConnector3">
            <a:avLst>
              <a:gd fmla="val 50006" name="adj1"/>
            </a:avLst>
          </a:prstGeom>
          <a:noFill/>
          <a:ln cap="flat" cmpd="sng" w="19050">
            <a:solidFill>
              <a:srgbClr val="000000"/>
            </a:solidFill>
            <a:prstDash val="solid"/>
            <a:round/>
            <a:headEnd len="med" w="med" type="none"/>
            <a:tailEnd len="med" w="med" type="triangle"/>
          </a:ln>
        </p:spPr>
      </p:cxnSp>
      <p:cxnSp>
        <p:nvCxnSpPr>
          <p:cNvPr id="235" name="Google Shape;235;p25"/>
          <p:cNvCxnSpPr>
            <a:stCxn id="233" idx="3"/>
            <a:endCxn id="228" idx="1"/>
          </p:cNvCxnSpPr>
          <p:nvPr/>
        </p:nvCxnSpPr>
        <p:spPr>
          <a:xfrm flipH="1" rot="10800000">
            <a:off x="1119853" y="1880131"/>
            <a:ext cx="1050900" cy="214200"/>
          </a:xfrm>
          <a:prstGeom prst="bentConnector3">
            <a:avLst>
              <a:gd fmla="val 49999" name="adj1"/>
            </a:avLst>
          </a:prstGeom>
          <a:noFill/>
          <a:ln cap="flat" cmpd="sng" w="19050">
            <a:solidFill>
              <a:srgbClr val="000000"/>
            </a:solidFill>
            <a:prstDash val="solid"/>
            <a:round/>
            <a:headEnd len="med" w="med" type="none"/>
            <a:tailEnd len="med" w="med" type="triangle"/>
          </a:ln>
        </p:spPr>
      </p:cxnSp>
      <p:cxnSp>
        <p:nvCxnSpPr>
          <p:cNvPr id="236" name="Google Shape;236;p25"/>
          <p:cNvCxnSpPr>
            <a:stCxn id="232" idx="3"/>
            <a:endCxn id="228" idx="1"/>
          </p:cNvCxnSpPr>
          <p:nvPr/>
        </p:nvCxnSpPr>
        <p:spPr>
          <a:xfrm flipH="1" rot="10800000">
            <a:off x="1119851" y="1880209"/>
            <a:ext cx="1050900" cy="691500"/>
          </a:xfrm>
          <a:prstGeom prst="bentConnector3">
            <a:avLst>
              <a:gd fmla="val 49999" name="adj1"/>
            </a:avLst>
          </a:prstGeom>
          <a:noFill/>
          <a:ln cap="flat" cmpd="sng" w="19050">
            <a:solidFill>
              <a:srgbClr val="000000"/>
            </a:solidFill>
            <a:prstDash val="solid"/>
            <a:round/>
            <a:headEnd len="med" w="med" type="none"/>
            <a:tailEnd len="med" w="med" type="triangle"/>
          </a:ln>
        </p:spPr>
      </p:cxnSp>
      <p:cxnSp>
        <p:nvCxnSpPr>
          <p:cNvPr id="237" name="Google Shape;237;p25"/>
          <p:cNvCxnSpPr>
            <a:stCxn id="227" idx="3"/>
            <a:endCxn id="229" idx="1"/>
          </p:cNvCxnSpPr>
          <p:nvPr/>
        </p:nvCxnSpPr>
        <p:spPr>
          <a:xfrm>
            <a:off x="3878643" y="1879849"/>
            <a:ext cx="381000" cy="600"/>
          </a:xfrm>
          <a:prstGeom prst="bentConnector3">
            <a:avLst>
              <a:gd fmla="val 49994" name="adj1"/>
            </a:avLst>
          </a:prstGeom>
          <a:noFill/>
          <a:ln cap="flat" cmpd="sng" w="19050">
            <a:solidFill>
              <a:srgbClr val="000000"/>
            </a:solidFill>
            <a:prstDash val="solid"/>
            <a:round/>
            <a:headEnd len="med" w="med" type="none"/>
            <a:tailEnd len="med" w="med" type="triangle"/>
          </a:ln>
        </p:spPr>
      </p:cxnSp>
      <p:pic>
        <p:nvPicPr>
          <p:cNvPr id="238" name="Google Shape;238;p25"/>
          <p:cNvPicPr preferRelativeResize="0"/>
          <p:nvPr/>
        </p:nvPicPr>
        <p:blipFill>
          <a:blip r:embed="rId8">
            <a:alphaModFix/>
          </a:blip>
          <a:stretch>
            <a:fillRect/>
          </a:stretch>
        </p:blipFill>
        <p:spPr>
          <a:xfrm>
            <a:off x="5011825" y="173625"/>
            <a:ext cx="401850" cy="383292"/>
          </a:xfrm>
          <a:prstGeom prst="rect">
            <a:avLst/>
          </a:prstGeom>
          <a:noFill/>
          <a:ln>
            <a:noFill/>
          </a:ln>
        </p:spPr>
      </p:pic>
      <p:pic>
        <p:nvPicPr>
          <p:cNvPr id="239" name="Google Shape;239;p25"/>
          <p:cNvPicPr preferRelativeResize="0"/>
          <p:nvPr/>
        </p:nvPicPr>
        <p:blipFill>
          <a:blip r:embed="rId9">
            <a:alphaModFix/>
          </a:blip>
          <a:stretch>
            <a:fillRect/>
          </a:stretch>
        </p:blipFill>
        <p:spPr>
          <a:xfrm>
            <a:off x="4541137" y="3822529"/>
            <a:ext cx="470700" cy="448961"/>
          </a:xfrm>
          <a:prstGeom prst="rect">
            <a:avLst/>
          </a:prstGeom>
          <a:noFill/>
          <a:ln>
            <a:noFill/>
          </a:ln>
        </p:spPr>
      </p:pic>
      <p:sp>
        <p:nvSpPr>
          <p:cNvPr id="240" name="Google Shape;240;p25"/>
          <p:cNvSpPr/>
          <p:nvPr/>
        </p:nvSpPr>
        <p:spPr>
          <a:xfrm rot="5400000">
            <a:off x="2641213" y="887149"/>
            <a:ext cx="449100" cy="49776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pic>
        <p:nvPicPr>
          <p:cNvPr id="241" name="Google Shape;241;p25"/>
          <p:cNvPicPr preferRelativeResize="0"/>
          <p:nvPr/>
        </p:nvPicPr>
        <p:blipFill>
          <a:blip r:embed="rId10">
            <a:alphaModFix/>
          </a:blip>
          <a:stretch>
            <a:fillRect/>
          </a:stretch>
        </p:blipFill>
        <p:spPr>
          <a:xfrm>
            <a:off x="706727" y="3822539"/>
            <a:ext cx="470700" cy="448947"/>
          </a:xfrm>
          <a:prstGeom prst="rect">
            <a:avLst/>
          </a:prstGeom>
          <a:noFill/>
          <a:ln>
            <a:noFill/>
          </a:ln>
        </p:spPr>
      </p:pic>
      <p:sp>
        <p:nvSpPr>
          <p:cNvPr id="242" name="Google Shape;242;p25"/>
          <p:cNvSpPr txBox="1"/>
          <p:nvPr/>
        </p:nvSpPr>
        <p:spPr>
          <a:xfrm>
            <a:off x="1418613" y="3822529"/>
            <a:ext cx="2964900" cy="449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1200">
                <a:solidFill>
                  <a:schemeClr val="dk2"/>
                </a:solidFill>
                <a:latin typeface="Poppins"/>
                <a:ea typeface="Poppins"/>
                <a:cs typeface="Poppins"/>
                <a:sym typeface="Poppins"/>
              </a:rPr>
              <a:t>Prompt</a:t>
            </a:r>
            <a:endParaRPr b="1" sz="1200">
              <a:solidFill>
                <a:schemeClr val="dk2"/>
              </a:solidFill>
              <a:latin typeface="Poppins"/>
              <a:ea typeface="Poppins"/>
              <a:cs typeface="Poppins"/>
              <a:sym typeface="Poppins"/>
            </a:endParaRPr>
          </a:p>
        </p:txBody>
      </p:sp>
      <p:sp>
        <p:nvSpPr>
          <p:cNvPr id="243" name="Google Shape;243;p25"/>
          <p:cNvSpPr txBox="1"/>
          <p:nvPr>
            <p:ph idx="4294967295" type="title"/>
          </p:nvPr>
        </p:nvSpPr>
        <p:spPr>
          <a:xfrm>
            <a:off x="5553500" y="630625"/>
            <a:ext cx="3041100" cy="271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sz="3000"/>
              <a:t>Cómo generar ideas de proyectos utilizando IA</a:t>
            </a:r>
            <a:endParaRPr b="1" sz="3000"/>
          </a:p>
        </p:txBody>
      </p:sp>
      <p:pic>
        <p:nvPicPr>
          <p:cNvPr id="244" name="Google Shape;244;p25"/>
          <p:cNvPicPr preferRelativeResize="0"/>
          <p:nvPr/>
        </p:nvPicPr>
        <p:blipFill>
          <a:blip r:embed="rId8">
            <a:alphaModFix/>
          </a:blip>
          <a:stretch>
            <a:fillRect/>
          </a:stretch>
        </p:blipFill>
        <p:spPr>
          <a:xfrm>
            <a:off x="204425" y="4610975"/>
            <a:ext cx="401850" cy="401850"/>
          </a:xfrm>
          <a:prstGeom prst="rect">
            <a:avLst/>
          </a:prstGeom>
          <a:noFill/>
          <a:ln>
            <a:noFill/>
          </a:ln>
        </p:spPr>
      </p:pic>
      <p:sp>
        <p:nvSpPr>
          <p:cNvPr id="245" name="Google Shape;245;p25"/>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txBox="1"/>
          <p:nvPr/>
        </p:nvSpPr>
        <p:spPr>
          <a:xfrm>
            <a:off x="204425" y="138925"/>
            <a:ext cx="3424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400">
                <a:latin typeface="Poppins"/>
                <a:ea typeface="Poppins"/>
                <a:cs typeface="Poppins"/>
                <a:sym typeface="Poppins"/>
              </a:rPr>
              <a:t>Prompt</a:t>
            </a:r>
            <a:endParaRPr b="1" sz="1500">
              <a:solidFill>
                <a:schemeClr val="accent5"/>
              </a:solidFill>
              <a:latin typeface="Poppins"/>
              <a:ea typeface="Poppins"/>
              <a:cs typeface="Poppins"/>
              <a:sym typeface="Poppins"/>
            </a:endParaRPr>
          </a:p>
        </p:txBody>
      </p:sp>
      <p:sp>
        <p:nvSpPr>
          <p:cNvPr id="251" name="Google Shape;251;p26"/>
          <p:cNvSpPr txBox="1"/>
          <p:nvPr/>
        </p:nvSpPr>
        <p:spPr>
          <a:xfrm>
            <a:off x="337125" y="826550"/>
            <a:ext cx="5376900" cy="3326100"/>
          </a:xfrm>
          <a:prstGeom prst="rect">
            <a:avLst/>
          </a:prstGeom>
          <a:solidFill>
            <a:srgbClr val="F3F3F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Poppins"/>
                <a:ea typeface="Poppins"/>
                <a:cs typeface="Poppins"/>
                <a:sym typeface="Poppins"/>
              </a:rPr>
              <a:t>Eres una IA especializada en la generación de proyectos de ingeniería de datos, y el objetivo de estos proyectos es mejorar el conocimiento obtenido en bootcamp o cursos los cuales he tomado, me ayudaras a plantear proyectos que mejoren situaciones específicas de mi aprendizaje.</a:t>
            </a:r>
            <a:endParaRPr sz="1800">
              <a:solidFill>
                <a:schemeClr val="dk2"/>
              </a:solidFill>
              <a:latin typeface="Poppins"/>
              <a:ea typeface="Poppins"/>
              <a:cs typeface="Poppins"/>
              <a:sym typeface="Poppins"/>
            </a:endParaRPr>
          </a:p>
          <a:p>
            <a:pPr indent="0" lvl="0" marL="0" rtl="0" algn="l">
              <a:spcBef>
                <a:spcPts val="0"/>
              </a:spcBef>
              <a:spcAft>
                <a:spcPts val="0"/>
              </a:spcAft>
              <a:buNone/>
            </a:pPr>
            <a:r>
              <a:t/>
            </a:r>
            <a:endParaRPr sz="1800">
              <a:solidFill>
                <a:schemeClr val="dk2"/>
              </a:solidFill>
              <a:latin typeface="Poppins"/>
              <a:ea typeface="Poppins"/>
              <a:cs typeface="Poppins"/>
              <a:sym typeface="Poppins"/>
            </a:endParaRPr>
          </a:p>
          <a:p>
            <a:pPr indent="0" lvl="0" marL="0" rtl="0" algn="l">
              <a:spcBef>
                <a:spcPts val="0"/>
              </a:spcBef>
              <a:spcAft>
                <a:spcPts val="0"/>
              </a:spcAft>
              <a:buNone/>
            </a:pPr>
            <a:r>
              <a:rPr lang="es" sz="1800">
                <a:solidFill>
                  <a:schemeClr val="dk2"/>
                </a:solidFill>
                <a:latin typeface="Poppins"/>
                <a:ea typeface="Poppins"/>
                <a:cs typeface="Poppins"/>
                <a:sym typeface="Poppins"/>
              </a:rPr>
              <a:t>Además, que generas un contexto amplio sobre cada proyecto para que me sea más fácil el desarrollo.</a:t>
            </a:r>
            <a:endParaRPr sz="1800">
              <a:solidFill>
                <a:schemeClr val="dk2"/>
              </a:solidFill>
              <a:latin typeface="Poppins"/>
              <a:ea typeface="Poppins"/>
              <a:cs typeface="Poppins"/>
              <a:sym typeface="Poppins"/>
            </a:endParaRPr>
          </a:p>
        </p:txBody>
      </p:sp>
      <p:sp>
        <p:nvSpPr>
          <p:cNvPr id="252" name="Google Shape;252;p26"/>
          <p:cNvSpPr txBox="1"/>
          <p:nvPr/>
        </p:nvSpPr>
        <p:spPr>
          <a:xfrm>
            <a:off x="6113575" y="1713800"/>
            <a:ext cx="2365800" cy="15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 sz="1600">
                <a:solidFill>
                  <a:schemeClr val="dk2"/>
                </a:solidFill>
                <a:latin typeface="Poppins"/>
                <a:ea typeface="Poppins"/>
                <a:cs typeface="Poppins"/>
                <a:sym typeface="Poppins"/>
              </a:rPr>
              <a:t>Contexto en el que se basara tu prompt entre mejor contexto mejor realizara su tarea</a:t>
            </a:r>
            <a:endParaRPr i="1" sz="1600">
              <a:solidFill>
                <a:schemeClr val="dk2"/>
              </a:solidFill>
              <a:latin typeface="Poppins"/>
              <a:ea typeface="Poppins"/>
              <a:cs typeface="Poppins"/>
              <a:sym typeface="Poppins"/>
            </a:endParaRPr>
          </a:p>
        </p:txBody>
      </p:sp>
      <p:pic>
        <p:nvPicPr>
          <p:cNvPr id="253" name="Google Shape;253;p26"/>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254" name="Google Shape;254;p26"/>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7"/>
          <p:cNvSpPr txBox="1"/>
          <p:nvPr/>
        </p:nvSpPr>
        <p:spPr>
          <a:xfrm>
            <a:off x="204425" y="138925"/>
            <a:ext cx="3424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400">
                <a:latin typeface="Poppins"/>
                <a:ea typeface="Poppins"/>
                <a:cs typeface="Poppins"/>
                <a:sym typeface="Poppins"/>
              </a:rPr>
              <a:t>Prompt</a:t>
            </a:r>
            <a:endParaRPr b="1" sz="1500">
              <a:solidFill>
                <a:schemeClr val="accent5"/>
              </a:solidFill>
              <a:latin typeface="Poppins"/>
              <a:ea typeface="Poppins"/>
              <a:cs typeface="Poppins"/>
              <a:sym typeface="Poppins"/>
            </a:endParaRPr>
          </a:p>
        </p:txBody>
      </p:sp>
      <p:sp>
        <p:nvSpPr>
          <p:cNvPr id="260" name="Google Shape;260;p27"/>
          <p:cNvSpPr txBox="1"/>
          <p:nvPr/>
        </p:nvSpPr>
        <p:spPr>
          <a:xfrm>
            <a:off x="337125" y="826550"/>
            <a:ext cx="5376900" cy="3326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Poppins"/>
                <a:ea typeface="Poppins"/>
                <a:cs typeface="Poppins"/>
                <a:sym typeface="Poppins"/>
              </a:rPr>
              <a:t>Genera 3 proyectos de  con diferentes escalas de dificultad, que tengan presente la extracción de datos, manipulación y limpieza, la ingestión de datos, disponibilidad de los datos hacia científicos y analistas de datos, los cuales se enfoquen en las siguientes áreas de la tecnología que son de mi interés :</a:t>
            </a:r>
            <a:endParaRPr sz="1800">
              <a:solidFill>
                <a:schemeClr val="dk2"/>
              </a:solidFill>
              <a:latin typeface="Poppins"/>
              <a:ea typeface="Poppins"/>
              <a:cs typeface="Poppins"/>
              <a:sym typeface="Poppins"/>
            </a:endParaRPr>
          </a:p>
        </p:txBody>
      </p:sp>
      <p:sp>
        <p:nvSpPr>
          <p:cNvPr id="261" name="Google Shape;261;p27"/>
          <p:cNvSpPr txBox="1"/>
          <p:nvPr/>
        </p:nvSpPr>
        <p:spPr>
          <a:xfrm>
            <a:off x="6113575" y="826550"/>
            <a:ext cx="2365800" cy="26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 sz="1600">
                <a:solidFill>
                  <a:schemeClr val="dk2"/>
                </a:solidFill>
                <a:latin typeface="Poppins"/>
                <a:ea typeface="Poppins"/>
                <a:cs typeface="Poppins"/>
                <a:sym typeface="Poppins"/>
              </a:rPr>
              <a:t>Tarea que debe de realizar, si se le provee de características más específicas los resultados serán de mejor calidad y entenderás mejor los proyectos</a:t>
            </a:r>
            <a:endParaRPr i="1" sz="1600">
              <a:solidFill>
                <a:schemeClr val="dk2"/>
              </a:solidFill>
              <a:latin typeface="Poppins"/>
              <a:ea typeface="Poppins"/>
              <a:cs typeface="Poppins"/>
              <a:sym typeface="Poppins"/>
            </a:endParaRPr>
          </a:p>
        </p:txBody>
      </p:sp>
      <p:pic>
        <p:nvPicPr>
          <p:cNvPr id="262" name="Google Shape;262;p27"/>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263" name="Google Shape;263;p27"/>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8"/>
          <p:cNvSpPr txBox="1"/>
          <p:nvPr/>
        </p:nvSpPr>
        <p:spPr>
          <a:xfrm>
            <a:off x="204425" y="138925"/>
            <a:ext cx="3424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400">
                <a:latin typeface="Poppins"/>
                <a:ea typeface="Poppins"/>
                <a:cs typeface="Poppins"/>
                <a:sym typeface="Poppins"/>
              </a:rPr>
              <a:t>Prompt</a:t>
            </a:r>
            <a:endParaRPr b="1" sz="1500">
              <a:solidFill>
                <a:schemeClr val="accent5"/>
              </a:solidFill>
              <a:latin typeface="Poppins"/>
              <a:ea typeface="Poppins"/>
              <a:cs typeface="Poppins"/>
              <a:sym typeface="Poppins"/>
            </a:endParaRPr>
          </a:p>
        </p:txBody>
      </p:sp>
      <p:sp>
        <p:nvSpPr>
          <p:cNvPr id="269" name="Google Shape;269;p28"/>
          <p:cNvSpPr txBox="1"/>
          <p:nvPr/>
        </p:nvSpPr>
        <p:spPr>
          <a:xfrm>
            <a:off x="337125" y="826550"/>
            <a:ext cx="5376900" cy="3326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800">
                <a:solidFill>
                  <a:schemeClr val="dk2"/>
                </a:solidFill>
                <a:latin typeface="Poppins"/>
                <a:ea typeface="Poppins"/>
                <a:cs typeface="Poppins"/>
                <a:sym typeface="Poppins"/>
              </a:rPr>
              <a:t>Cuento con conocimientos en:</a:t>
            </a:r>
            <a:endParaRPr sz="1800">
              <a:solidFill>
                <a:schemeClr val="dk2"/>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800">
              <a:solidFill>
                <a:schemeClr val="dk2"/>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800">
                <a:solidFill>
                  <a:schemeClr val="dk2"/>
                </a:solidFill>
                <a:latin typeface="Poppins"/>
                <a:ea typeface="Poppins"/>
                <a:cs typeface="Poppins"/>
                <a:sym typeface="Poppins"/>
              </a:rPr>
              <a:t>Los conocimientos que estoy aprendiendo y quiero mejorar son:</a:t>
            </a:r>
            <a:endParaRPr sz="1800">
              <a:solidFill>
                <a:schemeClr val="dk2"/>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800">
              <a:solidFill>
                <a:schemeClr val="dk2"/>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1800">
                <a:solidFill>
                  <a:schemeClr val="dk2"/>
                </a:solidFill>
                <a:latin typeface="Poppins"/>
                <a:ea typeface="Poppins"/>
                <a:cs typeface="Poppins"/>
                <a:sym typeface="Poppins"/>
              </a:rPr>
              <a:t>Quiero que tomes en cuenta los siguientes objetivos:</a:t>
            </a:r>
            <a:endParaRPr sz="1800">
              <a:solidFill>
                <a:schemeClr val="dk2"/>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800">
              <a:solidFill>
                <a:schemeClr val="dk2"/>
              </a:solidFill>
              <a:latin typeface="Poppins"/>
              <a:ea typeface="Poppins"/>
              <a:cs typeface="Poppins"/>
              <a:sym typeface="Poppins"/>
            </a:endParaRPr>
          </a:p>
          <a:p>
            <a:pPr indent="0" lvl="0" marL="0" rtl="0" algn="l">
              <a:spcBef>
                <a:spcPts val="0"/>
              </a:spcBef>
              <a:spcAft>
                <a:spcPts val="0"/>
              </a:spcAft>
              <a:buNone/>
            </a:pPr>
            <a:r>
              <a:rPr lang="es" sz="1800">
                <a:solidFill>
                  <a:schemeClr val="dk2"/>
                </a:solidFill>
                <a:latin typeface="Poppins"/>
                <a:ea typeface="Poppins"/>
                <a:cs typeface="Poppins"/>
                <a:sym typeface="Poppins"/>
              </a:rPr>
              <a:t>Objetivo Adicional Opcional:</a:t>
            </a:r>
            <a:endParaRPr sz="1800">
              <a:solidFill>
                <a:schemeClr val="dk2"/>
              </a:solidFill>
              <a:latin typeface="Poppins"/>
              <a:ea typeface="Poppins"/>
              <a:cs typeface="Poppins"/>
              <a:sym typeface="Poppins"/>
            </a:endParaRPr>
          </a:p>
        </p:txBody>
      </p:sp>
      <p:sp>
        <p:nvSpPr>
          <p:cNvPr id="270" name="Google Shape;270;p28"/>
          <p:cNvSpPr txBox="1"/>
          <p:nvPr/>
        </p:nvSpPr>
        <p:spPr>
          <a:xfrm>
            <a:off x="5983000" y="250450"/>
            <a:ext cx="2780700" cy="33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s" sz="1600">
                <a:solidFill>
                  <a:schemeClr val="dk2"/>
                </a:solidFill>
                <a:latin typeface="Poppins"/>
                <a:ea typeface="Poppins"/>
                <a:cs typeface="Poppins"/>
                <a:sym typeface="Poppins"/>
              </a:rPr>
              <a:t>Técnicas de brainstorming y prompts para estimular la creatividad </a:t>
            </a:r>
            <a:endParaRPr b="1" i="1" sz="1600">
              <a:solidFill>
                <a:schemeClr val="dk2"/>
              </a:solidFill>
              <a:latin typeface="Poppins"/>
              <a:ea typeface="Poppins"/>
              <a:cs typeface="Poppins"/>
              <a:sym typeface="Poppins"/>
            </a:endParaRPr>
          </a:p>
          <a:p>
            <a:pPr indent="0" lvl="0" marL="0" rtl="0" algn="l">
              <a:spcBef>
                <a:spcPts val="0"/>
              </a:spcBef>
              <a:spcAft>
                <a:spcPts val="0"/>
              </a:spcAft>
              <a:buNone/>
            </a:pPr>
            <a:r>
              <a:t/>
            </a:r>
            <a:endParaRPr i="1" sz="1600">
              <a:solidFill>
                <a:schemeClr val="dk2"/>
              </a:solidFill>
              <a:latin typeface="Poppins"/>
              <a:ea typeface="Poppins"/>
              <a:cs typeface="Poppins"/>
              <a:sym typeface="Poppins"/>
            </a:endParaRPr>
          </a:p>
          <a:p>
            <a:pPr indent="0" lvl="0" marL="0" rtl="0" algn="l">
              <a:spcBef>
                <a:spcPts val="0"/>
              </a:spcBef>
              <a:spcAft>
                <a:spcPts val="0"/>
              </a:spcAft>
              <a:buNone/>
            </a:pPr>
            <a:r>
              <a:rPr i="1" lang="es" sz="1600">
                <a:solidFill>
                  <a:schemeClr val="dk2"/>
                </a:solidFill>
                <a:latin typeface="Poppins"/>
                <a:ea typeface="Poppins"/>
                <a:cs typeface="Poppins"/>
                <a:sym typeface="Poppins"/>
              </a:rPr>
              <a:t>Proporciona información sobre tus conocimientos y sobre que quieres aprender, esto ayudara a que tus proyectos sean logrables y no los abandones por falta de interés o contexto</a:t>
            </a:r>
            <a:endParaRPr i="1" sz="1600">
              <a:solidFill>
                <a:schemeClr val="dk2"/>
              </a:solidFill>
              <a:latin typeface="Poppins"/>
              <a:ea typeface="Poppins"/>
              <a:cs typeface="Poppins"/>
              <a:sym typeface="Poppins"/>
            </a:endParaRPr>
          </a:p>
        </p:txBody>
      </p:sp>
      <p:pic>
        <p:nvPicPr>
          <p:cNvPr id="271" name="Google Shape;271;p28"/>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272" name="Google Shape;272;p28"/>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9"/>
          <p:cNvSpPr txBox="1"/>
          <p:nvPr/>
        </p:nvSpPr>
        <p:spPr>
          <a:xfrm>
            <a:off x="204425" y="138925"/>
            <a:ext cx="3424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400">
                <a:latin typeface="Poppins"/>
                <a:ea typeface="Poppins"/>
                <a:cs typeface="Poppins"/>
                <a:sym typeface="Poppins"/>
              </a:rPr>
              <a:t>Prompt</a:t>
            </a:r>
            <a:endParaRPr b="1" sz="1500">
              <a:solidFill>
                <a:schemeClr val="accent5"/>
              </a:solidFill>
              <a:latin typeface="Poppins"/>
              <a:ea typeface="Poppins"/>
              <a:cs typeface="Poppins"/>
              <a:sym typeface="Poppins"/>
            </a:endParaRPr>
          </a:p>
        </p:txBody>
      </p:sp>
      <p:sp>
        <p:nvSpPr>
          <p:cNvPr id="278" name="Google Shape;278;p29"/>
          <p:cNvSpPr txBox="1"/>
          <p:nvPr/>
        </p:nvSpPr>
        <p:spPr>
          <a:xfrm>
            <a:off x="337125" y="826550"/>
            <a:ext cx="5376900" cy="33261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Poppins"/>
                <a:ea typeface="Poppins"/>
                <a:cs typeface="Poppins"/>
                <a:sym typeface="Poppins"/>
              </a:rPr>
              <a:t>Genera el contexto de cada proyecto</a:t>
            </a:r>
            <a:endParaRPr sz="1800">
              <a:solidFill>
                <a:schemeClr val="dk2"/>
              </a:solidFill>
              <a:latin typeface="Poppins"/>
              <a:ea typeface="Poppins"/>
              <a:cs typeface="Poppins"/>
              <a:sym typeface="Poppins"/>
            </a:endParaRPr>
          </a:p>
          <a:p>
            <a:pPr indent="0" lvl="0" marL="0" rtl="0" algn="l">
              <a:spcBef>
                <a:spcPts val="0"/>
              </a:spcBef>
              <a:spcAft>
                <a:spcPts val="0"/>
              </a:spcAft>
              <a:buNone/>
            </a:pPr>
            <a:r>
              <a:t/>
            </a:r>
            <a:endParaRPr sz="1800">
              <a:solidFill>
                <a:schemeClr val="dk2"/>
              </a:solidFill>
              <a:latin typeface="Poppins"/>
              <a:ea typeface="Poppins"/>
              <a:cs typeface="Poppins"/>
              <a:sym typeface="Poppins"/>
            </a:endParaRPr>
          </a:p>
          <a:p>
            <a:pPr indent="0" lvl="0" marL="0" rtl="0" algn="l">
              <a:spcBef>
                <a:spcPts val="0"/>
              </a:spcBef>
              <a:spcAft>
                <a:spcPts val="0"/>
              </a:spcAft>
              <a:buNone/>
            </a:pPr>
            <a:r>
              <a:rPr lang="es" sz="1800">
                <a:solidFill>
                  <a:schemeClr val="dk2"/>
                </a:solidFill>
                <a:latin typeface="Poppins"/>
                <a:ea typeface="Poppins"/>
                <a:cs typeface="Poppins"/>
                <a:sym typeface="Poppins"/>
              </a:rPr>
              <a:t>Genérame ejemplos sobre el contenido de las bases de datos que me ayuden a entender que debo de buscar en las páginas como Kaggle o Mockaroo para cada proyecto</a:t>
            </a:r>
            <a:endParaRPr sz="1800">
              <a:solidFill>
                <a:schemeClr val="dk2"/>
              </a:solidFill>
              <a:latin typeface="Poppins"/>
              <a:ea typeface="Poppins"/>
              <a:cs typeface="Poppins"/>
              <a:sym typeface="Poppins"/>
            </a:endParaRPr>
          </a:p>
        </p:txBody>
      </p:sp>
      <p:sp>
        <p:nvSpPr>
          <p:cNvPr id="279" name="Google Shape;279;p29"/>
          <p:cNvSpPr txBox="1"/>
          <p:nvPr/>
        </p:nvSpPr>
        <p:spPr>
          <a:xfrm>
            <a:off x="6113575" y="826550"/>
            <a:ext cx="2365800" cy="26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 sz="1600">
                <a:solidFill>
                  <a:schemeClr val="dk2"/>
                </a:solidFill>
                <a:latin typeface="Poppins"/>
                <a:ea typeface="Poppins"/>
                <a:cs typeface="Poppins"/>
                <a:sym typeface="Poppins"/>
              </a:rPr>
              <a:t>Si confirmas los objetivos y eres más específico de lo que deseas obtener, además de brindarle el porqué necesitas un resultado, generaras estructuras de respuesta de mejor calidad</a:t>
            </a:r>
            <a:endParaRPr i="1" sz="1600">
              <a:solidFill>
                <a:schemeClr val="dk2"/>
              </a:solidFill>
              <a:latin typeface="Poppins"/>
              <a:ea typeface="Poppins"/>
              <a:cs typeface="Poppins"/>
              <a:sym typeface="Poppins"/>
            </a:endParaRPr>
          </a:p>
        </p:txBody>
      </p:sp>
      <p:pic>
        <p:nvPicPr>
          <p:cNvPr id="280" name="Google Shape;280;p29"/>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281" name="Google Shape;281;p29"/>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0"/>
          <p:cNvSpPr txBox="1"/>
          <p:nvPr/>
        </p:nvSpPr>
        <p:spPr>
          <a:xfrm>
            <a:off x="204425" y="138925"/>
            <a:ext cx="3424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2400">
                <a:latin typeface="Poppins"/>
                <a:ea typeface="Poppins"/>
                <a:cs typeface="Poppins"/>
                <a:sym typeface="Poppins"/>
              </a:rPr>
              <a:t>Prompt</a:t>
            </a:r>
            <a:endParaRPr b="1" sz="1500">
              <a:solidFill>
                <a:schemeClr val="accent5"/>
              </a:solidFill>
              <a:latin typeface="Poppins"/>
              <a:ea typeface="Poppins"/>
              <a:cs typeface="Poppins"/>
              <a:sym typeface="Poppins"/>
            </a:endParaRPr>
          </a:p>
        </p:txBody>
      </p:sp>
      <p:sp>
        <p:nvSpPr>
          <p:cNvPr id="287" name="Google Shape;287;p30"/>
          <p:cNvSpPr txBox="1"/>
          <p:nvPr/>
        </p:nvSpPr>
        <p:spPr>
          <a:xfrm>
            <a:off x="6113575" y="826550"/>
            <a:ext cx="2365800" cy="263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s" sz="1600">
                <a:solidFill>
                  <a:schemeClr val="dk2"/>
                </a:solidFill>
                <a:latin typeface="Poppins"/>
                <a:ea typeface="Poppins"/>
                <a:cs typeface="Poppins"/>
                <a:sym typeface="Poppins"/>
              </a:rPr>
              <a:t>Al proporcionar una estructura final mejoras la creación de proyectos con información relevante y estandarizas el proceso</a:t>
            </a:r>
            <a:endParaRPr i="1" sz="1600">
              <a:solidFill>
                <a:schemeClr val="dk2"/>
              </a:solidFill>
              <a:latin typeface="Poppins"/>
              <a:ea typeface="Poppins"/>
              <a:cs typeface="Poppins"/>
              <a:sym typeface="Poppins"/>
            </a:endParaRPr>
          </a:p>
        </p:txBody>
      </p:sp>
      <p:sp>
        <p:nvSpPr>
          <p:cNvPr id="288" name="Google Shape;288;p30"/>
          <p:cNvSpPr/>
          <p:nvPr/>
        </p:nvSpPr>
        <p:spPr>
          <a:xfrm>
            <a:off x="258175" y="771050"/>
            <a:ext cx="5376900" cy="3341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289" name="Google Shape;289;p30"/>
          <p:cNvSpPr txBox="1"/>
          <p:nvPr/>
        </p:nvSpPr>
        <p:spPr>
          <a:xfrm>
            <a:off x="461725" y="932400"/>
            <a:ext cx="4969800" cy="103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800">
                <a:solidFill>
                  <a:schemeClr val="dk2"/>
                </a:solidFill>
                <a:latin typeface="Poppins"/>
                <a:ea typeface="Poppins"/>
                <a:cs typeface="Poppins"/>
                <a:sym typeface="Poppins"/>
              </a:rPr>
              <a:t>Tu respuesta debe de tener la siguiente estructura</a:t>
            </a:r>
            <a:endParaRPr sz="800">
              <a:solidFill>
                <a:schemeClr val="dk2"/>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800">
              <a:solidFill>
                <a:schemeClr val="dk2"/>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800">
                <a:solidFill>
                  <a:schemeClr val="dk2"/>
                </a:solidFill>
                <a:latin typeface="Poppins"/>
                <a:ea typeface="Poppins"/>
                <a:cs typeface="Poppins"/>
                <a:sym typeface="Poppins"/>
              </a:rPr>
              <a:t>Proyectos de Ingeniería de Datos para Fortalecer Habilidades en …</a:t>
            </a:r>
            <a:endParaRPr sz="800">
              <a:solidFill>
                <a:schemeClr val="dk2"/>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800">
              <a:solidFill>
                <a:schemeClr val="dk2"/>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800">
                <a:solidFill>
                  <a:schemeClr val="dk2"/>
                </a:solidFill>
                <a:latin typeface="Poppins"/>
                <a:ea typeface="Poppins"/>
                <a:cs typeface="Poppins"/>
                <a:sym typeface="Poppins"/>
              </a:rPr>
              <a:t>Objetivo:</a:t>
            </a:r>
            <a:endParaRPr sz="800">
              <a:solidFill>
                <a:schemeClr val="dk2"/>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s" sz="800">
                <a:solidFill>
                  <a:schemeClr val="dk2"/>
                </a:solidFill>
                <a:latin typeface="Poppins"/>
                <a:ea typeface="Poppins"/>
                <a:cs typeface="Poppins"/>
                <a:sym typeface="Poppins"/>
              </a:rPr>
              <a:t>Consideraciones:</a:t>
            </a:r>
            <a:endParaRPr sz="800">
              <a:solidFill>
                <a:schemeClr val="dk2"/>
              </a:solidFill>
              <a:latin typeface="Poppins"/>
              <a:ea typeface="Poppins"/>
              <a:cs typeface="Poppins"/>
              <a:sym typeface="Poppins"/>
            </a:endParaRPr>
          </a:p>
          <a:p>
            <a:pPr indent="0" lvl="0" marL="0" rtl="0" algn="l">
              <a:spcBef>
                <a:spcPts val="0"/>
              </a:spcBef>
              <a:spcAft>
                <a:spcPts val="0"/>
              </a:spcAft>
              <a:buNone/>
            </a:pPr>
            <a:r>
              <a:rPr lang="es" sz="800">
                <a:solidFill>
                  <a:schemeClr val="dk2"/>
                </a:solidFill>
                <a:latin typeface="Poppins"/>
                <a:ea typeface="Poppins"/>
                <a:cs typeface="Poppins"/>
                <a:sym typeface="Poppins"/>
              </a:rPr>
              <a:t>Proyectos:</a:t>
            </a:r>
            <a:endParaRPr sz="800">
              <a:solidFill>
                <a:schemeClr val="dk2"/>
              </a:solidFill>
              <a:latin typeface="Poppins"/>
              <a:ea typeface="Poppins"/>
              <a:cs typeface="Poppins"/>
              <a:sym typeface="Poppins"/>
            </a:endParaRPr>
          </a:p>
        </p:txBody>
      </p:sp>
      <p:sp>
        <p:nvSpPr>
          <p:cNvPr id="290" name="Google Shape;290;p30"/>
          <p:cNvSpPr txBox="1"/>
          <p:nvPr/>
        </p:nvSpPr>
        <p:spPr>
          <a:xfrm>
            <a:off x="461725" y="2049488"/>
            <a:ext cx="1534500" cy="12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s" sz="800">
                <a:solidFill>
                  <a:schemeClr val="dk2"/>
                </a:solidFill>
                <a:latin typeface="Poppins"/>
                <a:ea typeface="Poppins"/>
                <a:cs typeface="Poppins"/>
                <a:sym typeface="Poppins"/>
              </a:rPr>
              <a:t>1.Proyecto</a:t>
            </a:r>
            <a:endParaRPr sz="800">
              <a:solidFill>
                <a:schemeClr val="dk2"/>
              </a:solidFill>
              <a:latin typeface="Poppins"/>
              <a:ea typeface="Poppins"/>
              <a:cs typeface="Poppins"/>
              <a:sym typeface="Poppins"/>
            </a:endParaRPr>
          </a:p>
          <a:p>
            <a:pPr indent="0" lvl="0" marL="0" rtl="0" algn="l">
              <a:lnSpc>
                <a:spcPct val="115000"/>
              </a:lnSpc>
              <a:spcBef>
                <a:spcPts val="1200"/>
              </a:spcBef>
              <a:spcAft>
                <a:spcPts val="0"/>
              </a:spcAft>
              <a:buClr>
                <a:schemeClr val="dk1"/>
              </a:buClr>
              <a:buSzPts val="1100"/>
              <a:buFont typeface="Arial"/>
              <a:buNone/>
            </a:pPr>
            <a:r>
              <a:rPr lang="es" sz="800">
                <a:solidFill>
                  <a:schemeClr val="dk2"/>
                </a:solidFill>
                <a:latin typeface="Poppins"/>
                <a:ea typeface="Poppins"/>
                <a:cs typeface="Poppins"/>
                <a:sym typeface="Poppins"/>
              </a:rPr>
              <a:t>Contexto:</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 sz="800">
                <a:solidFill>
                  <a:schemeClr val="dk2"/>
                </a:solidFill>
                <a:latin typeface="Poppins"/>
                <a:ea typeface="Poppins"/>
                <a:cs typeface="Poppins"/>
                <a:sym typeface="Poppins"/>
              </a:rPr>
              <a:t>Objetivo:</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 sz="800">
                <a:solidFill>
                  <a:schemeClr val="dk2"/>
                </a:solidFill>
                <a:latin typeface="Poppins"/>
                <a:ea typeface="Poppins"/>
                <a:cs typeface="Poppins"/>
                <a:sym typeface="Poppins"/>
              </a:rPr>
              <a:t>Desarrollo General:</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rPr lang="es" sz="800">
                <a:solidFill>
                  <a:schemeClr val="dk2"/>
                </a:solidFill>
                <a:latin typeface="Poppins"/>
                <a:ea typeface="Poppins"/>
                <a:cs typeface="Poppins"/>
                <a:sym typeface="Poppins"/>
              </a:rPr>
              <a:t>Ejemplo de contenido de base de datos:</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t/>
            </a:r>
            <a:endParaRPr sz="800">
              <a:solidFill>
                <a:schemeClr val="dk2"/>
              </a:solidFill>
              <a:latin typeface="Poppins"/>
              <a:ea typeface="Poppins"/>
              <a:cs typeface="Poppins"/>
              <a:sym typeface="Poppins"/>
            </a:endParaRPr>
          </a:p>
        </p:txBody>
      </p:sp>
      <p:sp>
        <p:nvSpPr>
          <p:cNvPr id="291" name="Google Shape;291;p30"/>
          <p:cNvSpPr txBox="1"/>
          <p:nvPr/>
        </p:nvSpPr>
        <p:spPr>
          <a:xfrm>
            <a:off x="1996225" y="2049488"/>
            <a:ext cx="1534500" cy="12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800">
                <a:solidFill>
                  <a:schemeClr val="dk2"/>
                </a:solidFill>
                <a:latin typeface="Poppins"/>
                <a:ea typeface="Poppins"/>
                <a:cs typeface="Poppins"/>
                <a:sym typeface="Poppins"/>
              </a:rPr>
              <a:t>2</a:t>
            </a:r>
            <a:r>
              <a:rPr lang="es" sz="800">
                <a:solidFill>
                  <a:schemeClr val="dk2"/>
                </a:solidFill>
                <a:latin typeface="Poppins"/>
                <a:ea typeface="Poppins"/>
                <a:cs typeface="Poppins"/>
                <a:sym typeface="Poppins"/>
              </a:rPr>
              <a:t>.Proyecto</a:t>
            </a:r>
            <a:endParaRPr sz="800">
              <a:solidFill>
                <a:schemeClr val="dk2"/>
              </a:solidFill>
              <a:latin typeface="Poppins"/>
              <a:ea typeface="Poppins"/>
              <a:cs typeface="Poppins"/>
              <a:sym typeface="Poppins"/>
            </a:endParaRPr>
          </a:p>
          <a:p>
            <a:pPr indent="0" lvl="0" marL="0" rtl="0" algn="l">
              <a:lnSpc>
                <a:spcPct val="115000"/>
              </a:lnSpc>
              <a:spcBef>
                <a:spcPts val="1200"/>
              </a:spcBef>
              <a:spcAft>
                <a:spcPts val="0"/>
              </a:spcAft>
              <a:buNone/>
            </a:pPr>
            <a:r>
              <a:rPr lang="es" sz="800">
                <a:solidFill>
                  <a:schemeClr val="dk2"/>
                </a:solidFill>
                <a:latin typeface="Poppins"/>
                <a:ea typeface="Poppins"/>
                <a:cs typeface="Poppins"/>
                <a:sym typeface="Poppins"/>
              </a:rPr>
              <a:t>Contexto:</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rPr lang="es" sz="800">
                <a:solidFill>
                  <a:schemeClr val="dk2"/>
                </a:solidFill>
                <a:latin typeface="Poppins"/>
                <a:ea typeface="Poppins"/>
                <a:cs typeface="Poppins"/>
                <a:sym typeface="Poppins"/>
              </a:rPr>
              <a:t>Objetivo:</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rPr lang="es" sz="800">
                <a:solidFill>
                  <a:schemeClr val="dk2"/>
                </a:solidFill>
                <a:latin typeface="Poppins"/>
                <a:ea typeface="Poppins"/>
                <a:cs typeface="Poppins"/>
                <a:sym typeface="Poppins"/>
              </a:rPr>
              <a:t>Desarrollo General:</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rPr lang="es" sz="800">
                <a:solidFill>
                  <a:schemeClr val="dk2"/>
                </a:solidFill>
                <a:latin typeface="Poppins"/>
                <a:ea typeface="Poppins"/>
                <a:cs typeface="Poppins"/>
                <a:sym typeface="Poppins"/>
              </a:rPr>
              <a:t>Ejemplo de contenido de base de datos:</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t/>
            </a:r>
            <a:endParaRPr sz="800">
              <a:solidFill>
                <a:schemeClr val="dk2"/>
              </a:solidFill>
              <a:latin typeface="Poppins"/>
              <a:ea typeface="Poppins"/>
              <a:cs typeface="Poppins"/>
              <a:sym typeface="Poppins"/>
            </a:endParaRPr>
          </a:p>
        </p:txBody>
      </p:sp>
      <p:sp>
        <p:nvSpPr>
          <p:cNvPr id="292" name="Google Shape;292;p30"/>
          <p:cNvSpPr txBox="1"/>
          <p:nvPr/>
        </p:nvSpPr>
        <p:spPr>
          <a:xfrm>
            <a:off x="3530725" y="2049475"/>
            <a:ext cx="1534500" cy="122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s" sz="800">
                <a:solidFill>
                  <a:schemeClr val="dk2"/>
                </a:solidFill>
                <a:latin typeface="Poppins"/>
                <a:ea typeface="Poppins"/>
                <a:cs typeface="Poppins"/>
                <a:sym typeface="Poppins"/>
              </a:rPr>
              <a:t>3</a:t>
            </a:r>
            <a:r>
              <a:rPr lang="es" sz="800">
                <a:solidFill>
                  <a:schemeClr val="dk2"/>
                </a:solidFill>
                <a:latin typeface="Poppins"/>
                <a:ea typeface="Poppins"/>
                <a:cs typeface="Poppins"/>
                <a:sym typeface="Poppins"/>
              </a:rPr>
              <a:t>.Proyecto</a:t>
            </a:r>
            <a:endParaRPr sz="800">
              <a:solidFill>
                <a:schemeClr val="dk2"/>
              </a:solidFill>
              <a:latin typeface="Poppins"/>
              <a:ea typeface="Poppins"/>
              <a:cs typeface="Poppins"/>
              <a:sym typeface="Poppins"/>
            </a:endParaRPr>
          </a:p>
          <a:p>
            <a:pPr indent="0" lvl="0" marL="0" rtl="0" algn="l">
              <a:lnSpc>
                <a:spcPct val="115000"/>
              </a:lnSpc>
              <a:spcBef>
                <a:spcPts val="1200"/>
              </a:spcBef>
              <a:spcAft>
                <a:spcPts val="0"/>
              </a:spcAft>
              <a:buNone/>
            </a:pPr>
            <a:r>
              <a:rPr lang="es" sz="800">
                <a:solidFill>
                  <a:schemeClr val="dk2"/>
                </a:solidFill>
                <a:latin typeface="Poppins"/>
                <a:ea typeface="Poppins"/>
                <a:cs typeface="Poppins"/>
                <a:sym typeface="Poppins"/>
              </a:rPr>
              <a:t>Contexto:</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rPr lang="es" sz="800">
                <a:solidFill>
                  <a:schemeClr val="dk2"/>
                </a:solidFill>
                <a:latin typeface="Poppins"/>
                <a:ea typeface="Poppins"/>
                <a:cs typeface="Poppins"/>
                <a:sym typeface="Poppins"/>
              </a:rPr>
              <a:t>Objetivo:</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rPr lang="es" sz="800">
                <a:solidFill>
                  <a:schemeClr val="dk2"/>
                </a:solidFill>
                <a:latin typeface="Poppins"/>
                <a:ea typeface="Poppins"/>
                <a:cs typeface="Poppins"/>
                <a:sym typeface="Poppins"/>
              </a:rPr>
              <a:t>Desarrollo General:</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rPr lang="es" sz="800">
                <a:solidFill>
                  <a:schemeClr val="dk2"/>
                </a:solidFill>
                <a:latin typeface="Poppins"/>
                <a:ea typeface="Poppins"/>
                <a:cs typeface="Poppins"/>
                <a:sym typeface="Poppins"/>
              </a:rPr>
              <a:t>Ejemplo de contenido de base de datos:</a:t>
            </a:r>
            <a:endParaRPr sz="800">
              <a:solidFill>
                <a:schemeClr val="dk2"/>
              </a:solidFill>
              <a:latin typeface="Poppins"/>
              <a:ea typeface="Poppins"/>
              <a:cs typeface="Poppins"/>
              <a:sym typeface="Poppins"/>
            </a:endParaRPr>
          </a:p>
          <a:p>
            <a:pPr indent="0" lvl="0" marL="0" rtl="0" algn="l">
              <a:lnSpc>
                <a:spcPct val="115000"/>
              </a:lnSpc>
              <a:spcBef>
                <a:spcPts val="0"/>
              </a:spcBef>
              <a:spcAft>
                <a:spcPts val="0"/>
              </a:spcAft>
              <a:buNone/>
            </a:pPr>
            <a:r>
              <a:t/>
            </a:r>
            <a:endParaRPr sz="800">
              <a:solidFill>
                <a:schemeClr val="dk2"/>
              </a:solidFill>
              <a:latin typeface="Poppins"/>
              <a:ea typeface="Poppins"/>
              <a:cs typeface="Poppins"/>
              <a:sym typeface="Poppins"/>
            </a:endParaRPr>
          </a:p>
        </p:txBody>
      </p:sp>
      <p:sp>
        <p:nvSpPr>
          <p:cNvPr id="293" name="Google Shape;293;p30"/>
          <p:cNvSpPr txBox="1"/>
          <p:nvPr/>
        </p:nvSpPr>
        <p:spPr>
          <a:xfrm>
            <a:off x="461725" y="3270800"/>
            <a:ext cx="4969800" cy="67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800">
                <a:solidFill>
                  <a:schemeClr val="dk2"/>
                </a:solidFill>
                <a:latin typeface="Poppins"/>
                <a:ea typeface="Poppins"/>
                <a:cs typeface="Poppins"/>
                <a:sym typeface="Poppins"/>
              </a:rPr>
              <a:t>Beneficios:</a:t>
            </a:r>
            <a:endParaRPr sz="800">
              <a:solidFill>
                <a:schemeClr val="dk2"/>
              </a:solidFill>
              <a:latin typeface="Poppins"/>
              <a:ea typeface="Poppins"/>
              <a:cs typeface="Poppins"/>
              <a:sym typeface="Poppins"/>
            </a:endParaRPr>
          </a:p>
          <a:p>
            <a:pPr indent="0" lvl="0" marL="0" rtl="0" algn="l">
              <a:spcBef>
                <a:spcPts val="0"/>
              </a:spcBef>
              <a:spcAft>
                <a:spcPts val="0"/>
              </a:spcAft>
              <a:buNone/>
            </a:pPr>
            <a:r>
              <a:t/>
            </a:r>
            <a:endParaRPr sz="800">
              <a:solidFill>
                <a:schemeClr val="dk2"/>
              </a:solidFill>
              <a:latin typeface="Poppins"/>
              <a:ea typeface="Poppins"/>
              <a:cs typeface="Poppins"/>
              <a:sym typeface="Poppins"/>
            </a:endParaRPr>
          </a:p>
          <a:p>
            <a:pPr indent="0" lvl="0" marL="0" rtl="0" algn="l">
              <a:spcBef>
                <a:spcPts val="0"/>
              </a:spcBef>
              <a:spcAft>
                <a:spcPts val="0"/>
              </a:spcAft>
              <a:buNone/>
            </a:pPr>
            <a:r>
              <a:rPr lang="es" sz="800">
                <a:solidFill>
                  <a:schemeClr val="dk2"/>
                </a:solidFill>
                <a:latin typeface="Poppins"/>
                <a:ea typeface="Poppins"/>
                <a:cs typeface="Poppins"/>
                <a:sym typeface="Poppins"/>
              </a:rPr>
              <a:t>Recursos adicionales:</a:t>
            </a:r>
            <a:endParaRPr sz="800">
              <a:solidFill>
                <a:schemeClr val="dk2"/>
              </a:solidFill>
              <a:latin typeface="Poppins"/>
              <a:ea typeface="Poppins"/>
              <a:cs typeface="Poppins"/>
              <a:sym typeface="Poppins"/>
            </a:endParaRPr>
          </a:p>
        </p:txBody>
      </p:sp>
      <p:pic>
        <p:nvPicPr>
          <p:cNvPr id="294" name="Google Shape;294;p30"/>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295" name="Google Shape;295;p30"/>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1"/>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01" name="Google Shape;301;p31"/>
          <p:cNvSpPr txBox="1"/>
          <p:nvPr>
            <p:ph type="title"/>
          </p:nvPr>
        </p:nvSpPr>
        <p:spPr>
          <a:xfrm>
            <a:off x="544525" y="642250"/>
            <a:ext cx="4163400" cy="271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sz="3000"/>
              <a:t>Evaluación y selección de ideas de proyectos</a:t>
            </a:r>
            <a:endParaRPr b="1" sz="3000"/>
          </a:p>
        </p:txBody>
      </p:sp>
      <p:sp>
        <p:nvSpPr>
          <p:cNvPr id="302" name="Google Shape;302;p31"/>
          <p:cNvSpPr txBox="1"/>
          <p:nvPr/>
        </p:nvSpPr>
        <p:spPr>
          <a:xfrm>
            <a:off x="4784700" y="642250"/>
            <a:ext cx="3963600" cy="2673000"/>
          </a:xfrm>
          <a:prstGeom prst="rect">
            <a:avLst/>
          </a:prstGeom>
          <a:noFill/>
          <a:ln>
            <a:noFill/>
          </a:ln>
        </p:spPr>
        <p:txBody>
          <a:bodyPr anchorCtr="0" anchor="ctr" bIns="91425" lIns="91425" spcFirstLastPara="1" rIns="91425" wrap="square" tIns="91425">
            <a:noAutofit/>
          </a:bodyPr>
          <a:lstStyle/>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Claridad y definición</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Impacto potencial</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Viabilidad técnica</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Recursos disponibles</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Alineación con los objetivos</a:t>
            </a:r>
            <a:endParaRPr sz="1200">
              <a:solidFill>
                <a:schemeClr val="dk2"/>
              </a:solidFill>
              <a:latin typeface="Poppins"/>
              <a:ea typeface="Poppins"/>
              <a:cs typeface="Poppins"/>
              <a:sym typeface="Poppins"/>
            </a:endParaRPr>
          </a:p>
        </p:txBody>
      </p:sp>
      <p:pic>
        <p:nvPicPr>
          <p:cNvPr id="303" name="Google Shape;303;p31"/>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304" name="Google Shape;304;p31"/>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2"/>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3"/>
          <p:cNvSpPr txBox="1"/>
          <p:nvPr/>
        </p:nvSpPr>
        <p:spPr>
          <a:xfrm>
            <a:off x="463650" y="2287050"/>
            <a:ext cx="8216700" cy="56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3400">
                <a:latin typeface="Poppins"/>
                <a:ea typeface="Poppins"/>
                <a:cs typeface="Poppins"/>
                <a:sym typeface="Poppins"/>
              </a:rPr>
              <a:t>Fuentes de Datos para Proyectos de Ingeniería de Datos</a:t>
            </a:r>
            <a:endParaRPr sz="2300">
              <a:solidFill>
                <a:schemeClr val="dk1"/>
              </a:solidFill>
              <a:latin typeface="Poppins"/>
              <a:ea typeface="Poppins"/>
              <a:cs typeface="Poppins"/>
              <a:sym typeface="Poppins"/>
            </a:endParaRPr>
          </a:p>
        </p:txBody>
      </p:sp>
      <p:pic>
        <p:nvPicPr>
          <p:cNvPr id="315" name="Google Shape;315;p33"/>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316" name="Google Shape;316;p33"/>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cxnSp>
        <p:nvCxnSpPr>
          <p:cNvPr id="321" name="Google Shape;321;p34"/>
          <p:cNvCxnSpPr/>
          <p:nvPr/>
        </p:nvCxnSpPr>
        <p:spPr>
          <a:xfrm>
            <a:off x="4381350" y="986125"/>
            <a:ext cx="14400" cy="2538600"/>
          </a:xfrm>
          <a:prstGeom prst="straightConnector1">
            <a:avLst/>
          </a:prstGeom>
          <a:noFill/>
          <a:ln cap="flat" cmpd="sng" w="9525">
            <a:solidFill>
              <a:srgbClr val="CCCCCC"/>
            </a:solidFill>
            <a:prstDash val="solid"/>
            <a:round/>
            <a:headEnd len="med" w="med" type="none"/>
            <a:tailEnd len="med" w="med" type="none"/>
          </a:ln>
        </p:spPr>
      </p:cxnSp>
      <p:sp>
        <p:nvSpPr>
          <p:cNvPr id="322" name="Google Shape;322;p34"/>
          <p:cNvSpPr txBox="1"/>
          <p:nvPr>
            <p:ph type="title"/>
          </p:nvPr>
        </p:nvSpPr>
        <p:spPr>
          <a:xfrm>
            <a:off x="488075" y="1205325"/>
            <a:ext cx="3581700" cy="61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s" sz="2540"/>
              <a:t>Kaggle</a:t>
            </a:r>
            <a:endParaRPr b="1" sz="2540"/>
          </a:p>
        </p:txBody>
      </p:sp>
      <p:sp>
        <p:nvSpPr>
          <p:cNvPr id="323" name="Google Shape;323;p34"/>
          <p:cNvSpPr txBox="1"/>
          <p:nvPr>
            <p:ph type="title"/>
          </p:nvPr>
        </p:nvSpPr>
        <p:spPr>
          <a:xfrm>
            <a:off x="4867775" y="1154875"/>
            <a:ext cx="3914700" cy="61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s" sz="2540"/>
              <a:t>Mockaroo</a:t>
            </a:r>
            <a:endParaRPr b="1" sz="2540"/>
          </a:p>
        </p:txBody>
      </p:sp>
      <p:sp>
        <p:nvSpPr>
          <p:cNvPr id="324" name="Google Shape;324;p34"/>
          <p:cNvSpPr txBox="1"/>
          <p:nvPr/>
        </p:nvSpPr>
        <p:spPr>
          <a:xfrm>
            <a:off x="4867825" y="1770475"/>
            <a:ext cx="36576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300">
                <a:solidFill>
                  <a:schemeClr val="dk1"/>
                </a:solidFill>
                <a:latin typeface="Poppins"/>
                <a:ea typeface="Poppins"/>
                <a:cs typeface="Poppins"/>
                <a:sym typeface="Poppins"/>
              </a:rPr>
              <a:t>Mockaroo </a:t>
            </a:r>
            <a:r>
              <a:rPr lang="es" sz="1300">
                <a:solidFill>
                  <a:schemeClr val="dk1"/>
                </a:solidFill>
                <a:latin typeface="Poppins"/>
                <a:ea typeface="Poppins"/>
                <a:cs typeface="Poppins"/>
                <a:sym typeface="Poppins"/>
              </a:rPr>
              <a:t>es una plataforma en línea gratuita que permite generar datos falsos para una variedad de tipos de datos, como direcciones, nombres y números de teléfono.</a:t>
            </a:r>
            <a:br>
              <a:rPr lang="es" sz="1300">
                <a:solidFill>
                  <a:schemeClr val="dk1"/>
                </a:solidFill>
                <a:latin typeface="Poppins"/>
                <a:ea typeface="Poppins"/>
                <a:cs typeface="Poppins"/>
                <a:sym typeface="Poppins"/>
              </a:rPr>
            </a:br>
            <a:r>
              <a:rPr lang="es" sz="1300">
                <a:solidFill>
                  <a:schemeClr val="dk1"/>
                </a:solidFill>
                <a:latin typeface="Poppins"/>
                <a:ea typeface="Poppins"/>
                <a:cs typeface="Poppins"/>
                <a:sym typeface="Poppins"/>
              </a:rPr>
              <a:t>En algunos casos, puede ser necesario generar datos falsos para complementar o reemplazar datos reales. </a:t>
            </a:r>
            <a:endParaRPr b="1" sz="1300">
              <a:solidFill>
                <a:srgbClr val="434343"/>
              </a:solidFill>
              <a:latin typeface="Poppins"/>
              <a:ea typeface="Poppins"/>
              <a:cs typeface="Poppins"/>
              <a:sym typeface="Poppins"/>
            </a:endParaRPr>
          </a:p>
        </p:txBody>
      </p:sp>
      <p:sp>
        <p:nvSpPr>
          <p:cNvPr id="325" name="Google Shape;325;p34"/>
          <p:cNvSpPr txBox="1"/>
          <p:nvPr/>
        </p:nvSpPr>
        <p:spPr>
          <a:xfrm>
            <a:off x="488075" y="1820925"/>
            <a:ext cx="3581700" cy="178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300">
                <a:latin typeface="Poppins"/>
                <a:ea typeface="Poppins"/>
                <a:cs typeface="Poppins"/>
                <a:sym typeface="Poppins"/>
              </a:rPr>
              <a:t>Kaggle es una plataforma en línea popular para científicos de datos y profesionales de la ingeniería de datos. La plataforma alberga una gran colección de datasets públicos que pueden utilizarse para proyectos de aprendizaje automático, análisis de datos y visualización de datos.</a:t>
            </a:r>
            <a:endParaRPr sz="1300">
              <a:latin typeface="Poppins"/>
              <a:ea typeface="Poppins"/>
              <a:cs typeface="Poppins"/>
              <a:sym typeface="Poppins"/>
            </a:endParaRPr>
          </a:p>
        </p:txBody>
      </p:sp>
      <p:pic>
        <p:nvPicPr>
          <p:cNvPr id="326" name="Google Shape;326;p34"/>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327" name="Google Shape;327;p34"/>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5"/>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6"/>
          <p:cNvSpPr txBox="1"/>
          <p:nvPr/>
        </p:nvSpPr>
        <p:spPr>
          <a:xfrm>
            <a:off x="463650" y="2287050"/>
            <a:ext cx="8216700" cy="569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s" sz="3400">
                <a:latin typeface="Poppins"/>
                <a:ea typeface="Poppins"/>
                <a:cs typeface="Poppins"/>
                <a:sym typeface="Poppins"/>
              </a:rPr>
              <a:t>Desarrollo del Proyecto</a:t>
            </a:r>
            <a:endParaRPr sz="2300">
              <a:solidFill>
                <a:schemeClr val="dk1"/>
              </a:solidFill>
              <a:latin typeface="Poppins"/>
              <a:ea typeface="Poppins"/>
              <a:cs typeface="Poppins"/>
              <a:sym typeface="Poppins"/>
            </a:endParaRPr>
          </a:p>
        </p:txBody>
      </p:sp>
      <p:pic>
        <p:nvPicPr>
          <p:cNvPr id="338" name="Google Shape;338;p36"/>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339" name="Google Shape;339;p36"/>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7"/>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45" name="Google Shape;345;p37"/>
          <p:cNvSpPr txBox="1"/>
          <p:nvPr>
            <p:ph type="title"/>
          </p:nvPr>
        </p:nvSpPr>
        <p:spPr>
          <a:xfrm>
            <a:off x="544525" y="642250"/>
            <a:ext cx="4163400" cy="2713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sz="3000"/>
              <a:t>Definición de las etapas del proyecto</a:t>
            </a:r>
            <a:endParaRPr b="1" sz="3000"/>
          </a:p>
        </p:txBody>
      </p:sp>
      <p:sp>
        <p:nvSpPr>
          <p:cNvPr id="346" name="Google Shape;346;p37"/>
          <p:cNvSpPr txBox="1"/>
          <p:nvPr/>
        </p:nvSpPr>
        <p:spPr>
          <a:xfrm>
            <a:off x="4784700" y="642250"/>
            <a:ext cx="3963600" cy="2673000"/>
          </a:xfrm>
          <a:prstGeom prst="rect">
            <a:avLst/>
          </a:prstGeom>
          <a:noFill/>
          <a:ln>
            <a:noFill/>
          </a:ln>
        </p:spPr>
        <p:txBody>
          <a:bodyPr anchorCtr="0" anchor="ctr" bIns="91425" lIns="91425" spcFirstLastPara="1" rIns="91425" wrap="square" tIns="91425">
            <a:noAutofit/>
          </a:bodyPr>
          <a:lstStyle/>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Diseño de la arquitectura</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Descubrimiento de fuentes</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Desarrollo</a:t>
            </a:r>
            <a:endParaRPr sz="1200">
              <a:solidFill>
                <a:schemeClr val="dk2"/>
              </a:solidFill>
              <a:latin typeface="Poppins"/>
              <a:ea typeface="Poppins"/>
              <a:cs typeface="Poppins"/>
              <a:sym typeface="Poppins"/>
            </a:endParaRPr>
          </a:p>
          <a:p>
            <a:pPr indent="-304800" lvl="0" marL="457200" rtl="0" algn="l">
              <a:lnSpc>
                <a:spcPct val="115000"/>
              </a:lnSpc>
              <a:spcBef>
                <a:spcPts val="0"/>
              </a:spcBef>
              <a:spcAft>
                <a:spcPts val="0"/>
              </a:spcAft>
              <a:buClr>
                <a:schemeClr val="dk2"/>
              </a:buClr>
              <a:buSzPts val="1200"/>
              <a:buFont typeface="Poppins"/>
              <a:buChar char="●"/>
            </a:pPr>
            <a:r>
              <a:rPr lang="es" sz="1200">
                <a:solidFill>
                  <a:schemeClr val="dk2"/>
                </a:solidFill>
                <a:latin typeface="Poppins"/>
                <a:ea typeface="Poppins"/>
                <a:cs typeface="Poppins"/>
                <a:sym typeface="Poppins"/>
              </a:rPr>
              <a:t>Evaluación de resultados</a:t>
            </a:r>
            <a:endParaRPr sz="1200">
              <a:solidFill>
                <a:schemeClr val="dk2"/>
              </a:solidFill>
              <a:latin typeface="Poppins"/>
              <a:ea typeface="Poppins"/>
              <a:cs typeface="Poppins"/>
              <a:sym typeface="Poppins"/>
            </a:endParaRPr>
          </a:p>
        </p:txBody>
      </p:sp>
      <p:pic>
        <p:nvPicPr>
          <p:cNvPr id="347" name="Google Shape;347;p37"/>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348" name="Google Shape;348;p37"/>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8"/>
          <p:cNvSpPr/>
          <p:nvPr/>
        </p:nvSpPr>
        <p:spPr>
          <a:xfrm>
            <a:off x="0" y="0"/>
            <a:ext cx="9144000" cy="378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
        <p:nvSpPr>
          <p:cNvPr id="354" name="Google Shape;354;p38"/>
          <p:cNvSpPr txBox="1"/>
          <p:nvPr>
            <p:ph type="title"/>
          </p:nvPr>
        </p:nvSpPr>
        <p:spPr>
          <a:xfrm>
            <a:off x="1217075" y="805450"/>
            <a:ext cx="5761200" cy="1418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s" sz="3000"/>
              <a:t>Témplate para el </a:t>
            </a:r>
            <a:r>
              <a:rPr b="1" lang="es" sz="3000"/>
              <a:t>Desarrollo del proyecto en:</a:t>
            </a:r>
            <a:endParaRPr b="1" sz="3000"/>
          </a:p>
        </p:txBody>
      </p:sp>
      <p:pic>
        <p:nvPicPr>
          <p:cNvPr id="355" name="Google Shape;355;p38"/>
          <p:cNvPicPr preferRelativeResize="0"/>
          <p:nvPr/>
        </p:nvPicPr>
        <p:blipFill rotWithShape="1">
          <a:blip r:embed="rId3">
            <a:alphaModFix/>
          </a:blip>
          <a:srcRect b="28954" l="19233" r="20285" t="28339"/>
          <a:stretch/>
        </p:blipFill>
        <p:spPr>
          <a:xfrm>
            <a:off x="4581600" y="1661763"/>
            <a:ext cx="3345300" cy="1314888"/>
          </a:xfrm>
          <a:prstGeom prst="rect">
            <a:avLst/>
          </a:prstGeom>
          <a:solidFill>
            <a:schemeClr val="lt1"/>
          </a:solidFill>
          <a:ln>
            <a:noFill/>
          </a:ln>
        </p:spPr>
      </p:pic>
      <p:pic>
        <p:nvPicPr>
          <p:cNvPr id="356" name="Google Shape;356;p38"/>
          <p:cNvPicPr preferRelativeResize="0"/>
          <p:nvPr/>
        </p:nvPicPr>
        <p:blipFill>
          <a:blip r:embed="rId4">
            <a:alphaModFix/>
          </a:blip>
          <a:stretch>
            <a:fillRect/>
          </a:stretch>
        </p:blipFill>
        <p:spPr>
          <a:xfrm>
            <a:off x="204425" y="4610975"/>
            <a:ext cx="401850" cy="401850"/>
          </a:xfrm>
          <a:prstGeom prst="rect">
            <a:avLst/>
          </a:prstGeom>
          <a:noFill/>
          <a:ln>
            <a:noFill/>
          </a:ln>
        </p:spPr>
      </p:pic>
      <p:sp>
        <p:nvSpPr>
          <p:cNvPr id="357" name="Google Shape;357;p38"/>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9"/>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0"/>
          <p:cNvSpPr txBox="1"/>
          <p:nvPr>
            <p:ph type="title"/>
          </p:nvPr>
        </p:nvSpPr>
        <p:spPr>
          <a:xfrm>
            <a:off x="290875" y="1804025"/>
            <a:ext cx="5077500" cy="5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s"/>
              <a:t>Generación y Selección de Proyectos con IA</a:t>
            </a:r>
            <a:endParaRPr b="1"/>
          </a:p>
        </p:txBody>
      </p:sp>
      <p:pic>
        <p:nvPicPr>
          <p:cNvPr id="368" name="Google Shape;368;p40"/>
          <p:cNvPicPr preferRelativeResize="0"/>
          <p:nvPr/>
        </p:nvPicPr>
        <p:blipFill>
          <a:blip r:embed="rId3">
            <a:alphaModFix/>
          </a:blip>
          <a:stretch>
            <a:fillRect/>
          </a:stretch>
        </p:blipFill>
        <p:spPr>
          <a:xfrm>
            <a:off x="5851450" y="1203175"/>
            <a:ext cx="2137824" cy="788325"/>
          </a:xfrm>
          <a:prstGeom prst="rect">
            <a:avLst/>
          </a:prstGeom>
          <a:noFill/>
          <a:ln>
            <a:noFill/>
          </a:ln>
        </p:spPr>
      </p:pic>
      <p:pic>
        <p:nvPicPr>
          <p:cNvPr id="369" name="Google Shape;369;p40"/>
          <p:cNvPicPr preferRelativeResize="0"/>
          <p:nvPr/>
        </p:nvPicPr>
        <p:blipFill>
          <a:blip r:embed="rId4">
            <a:alphaModFix/>
          </a:blip>
          <a:stretch>
            <a:fillRect/>
          </a:stretch>
        </p:blipFill>
        <p:spPr>
          <a:xfrm>
            <a:off x="5752718" y="2357625"/>
            <a:ext cx="2681359" cy="788325"/>
          </a:xfrm>
          <a:prstGeom prst="rect">
            <a:avLst/>
          </a:prstGeom>
          <a:noFill/>
          <a:ln>
            <a:noFill/>
          </a:ln>
        </p:spPr>
      </p:pic>
      <p:pic>
        <p:nvPicPr>
          <p:cNvPr id="370" name="Google Shape;370;p40"/>
          <p:cNvPicPr preferRelativeResize="0"/>
          <p:nvPr/>
        </p:nvPicPr>
        <p:blipFill>
          <a:blip r:embed="rId5">
            <a:alphaModFix/>
          </a:blip>
          <a:stretch>
            <a:fillRect/>
          </a:stretch>
        </p:blipFill>
        <p:spPr>
          <a:xfrm>
            <a:off x="204425" y="4610975"/>
            <a:ext cx="401850" cy="401850"/>
          </a:xfrm>
          <a:prstGeom prst="rect">
            <a:avLst/>
          </a:prstGeom>
          <a:noFill/>
          <a:ln>
            <a:noFill/>
          </a:ln>
        </p:spPr>
      </p:pic>
      <p:sp>
        <p:nvSpPr>
          <p:cNvPr id="371" name="Google Shape;371;p40"/>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1"/>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2"/>
          <p:cNvSpPr txBox="1"/>
          <p:nvPr>
            <p:ph type="title"/>
          </p:nvPr>
        </p:nvSpPr>
        <p:spPr>
          <a:xfrm>
            <a:off x="321600" y="2010450"/>
            <a:ext cx="8500800" cy="5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s"/>
              <a:t>Diseño de la arquitectura</a:t>
            </a:r>
            <a:endParaRPr b="1"/>
          </a:p>
        </p:txBody>
      </p:sp>
      <p:pic>
        <p:nvPicPr>
          <p:cNvPr id="382" name="Google Shape;382;p42"/>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383" name="Google Shape;383;p42"/>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3"/>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44"/>
          <p:cNvSpPr txBox="1"/>
          <p:nvPr>
            <p:ph type="title"/>
          </p:nvPr>
        </p:nvSpPr>
        <p:spPr>
          <a:xfrm>
            <a:off x="321600" y="2010450"/>
            <a:ext cx="8500800" cy="5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s"/>
              <a:t>Discovery de Fuentes</a:t>
            </a:r>
            <a:endParaRPr b="1"/>
          </a:p>
        </p:txBody>
      </p:sp>
      <p:pic>
        <p:nvPicPr>
          <p:cNvPr id="394" name="Google Shape;394;p44"/>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395" name="Google Shape;395;p44"/>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5"/>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6"/>
          <p:cNvSpPr txBox="1"/>
          <p:nvPr>
            <p:ph type="title"/>
          </p:nvPr>
        </p:nvSpPr>
        <p:spPr>
          <a:xfrm>
            <a:off x="321600" y="2010450"/>
            <a:ext cx="8500800" cy="5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s"/>
              <a:t>Desarrollo</a:t>
            </a:r>
            <a:endParaRPr b="1"/>
          </a:p>
        </p:txBody>
      </p:sp>
      <p:pic>
        <p:nvPicPr>
          <p:cNvPr id="406" name="Google Shape;406;p46"/>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407" name="Google Shape;407;p46"/>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7"/>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8"/>
          <p:cNvSpPr txBox="1"/>
          <p:nvPr>
            <p:ph type="title"/>
          </p:nvPr>
        </p:nvSpPr>
        <p:spPr>
          <a:xfrm>
            <a:off x="321600" y="2010450"/>
            <a:ext cx="8500800" cy="5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s"/>
              <a:t>Evaluación de Resultados</a:t>
            </a:r>
            <a:endParaRPr b="1"/>
          </a:p>
        </p:txBody>
      </p:sp>
      <p:pic>
        <p:nvPicPr>
          <p:cNvPr id="418" name="Google Shape;418;p48"/>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419" name="Google Shape;419;p48"/>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9"/>
          <p:cNvSpPr/>
          <p:nvPr/>
        </p:nvSpPr>
        <p:spPr>
          <a:xfrm>
            <a:off x="150" y="100"/>
            <a:ext cx="914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oppins"/>
              <a:ea typeface="Poppins"/>
              <a:cs typeface="Poppins"/>
              <a:sym typeface="Poppins"/>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50"/>
          <p:cNvSpPr txBox="1"/>
          <p:nvPr>
            <p:ph type="title"/>
          </p:nvPr>
        </p:nvSpPr>
        <p:spPr>
          <a:xfrm>
            <a:off x="321600" y="2010450"/>
            <a:ext cx="8500800" cy="561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s"/>
              <a:t>Gracias</a:t>
            </a:r>
            <a:endParaRPr b="1"/>
          </a:p>
        </p:txBody>
      </p:sp>
      <p:pic>
        <p:nvPicPr>
          <p:cNvPr id="430" name="Google Shape;430;p50"/>
          <p:cNvPicPr preferRelativeResize="0"/>
          <p:nvPr/>
        </p:nvPicPr>
        <p:blipFill>
          <a:blip r:embed="rId3">
            <a:alphaModFix/>
          </a:blip>
          <a:stretch>
            <a:fillRect/>
          </a:stretch>
        </p:blipFill>
        <p:spPr>
          <a:xfrm>
            <a:off x="204425" y="4610975"/>
            <a:ext cx="401850" cy="401850"/>
          </a:xfrm>
          <a:prstGeom prst="rect">
            <a:avLst/>
          </a:prstGeom>
          <a:noFill/>
          <a:ln>
            <a:noFill/>
          </a:ln>
        </p:spPr>
      </p:pic>
      <p:sp>
        <p:nvSpPr>
          <p:cNvPr id="431" name="Google Shape;431;p50"/>
          <p:cNvSpPr txBox="1"/>
          <p:nvPr/>
        </p:nvSpPr>
        <p:spPr>
          <a:xfrm>
            <a:off x="606275" y="4634900"/>
            <a:ext cx="39105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100">
                <a:solidFill>
                  <a:srgbClr val="434343"/>
                </a:solidFill>
                <a:latin typeface="Poppins"/>
                <a:ea typeface="Poppins"/>
                <a:cs typeface="Poppins"/>
                <a:sym typeface="Poppins"/>
              </a:rPr>
              <a:t>Creación de proyectos de Ingeniería de datos con IA</a:t>
            </a:r>
            <a:endParaRPr b="1" sz="1100">
              <a:solidFill>
                <a:srgbClr val="434343"/>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